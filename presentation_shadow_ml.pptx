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 Bapak dan Ibu Bapak dan Ibu Dewan Penguji. Hari ini kami mempresentasikan SHADOW: Multi-Agent Machine Learning Assistant. Sistem ini dibangun dengan kepatuhan mutlak terhadap standar rekayasa perangkat lunak sains data, memprioritaskan validitas metodologi sains data di atas tampilan kosmetik semata.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 kami membedakan secara tegas antara penalaran agen dan komputasi deterministik. Tidak ada satu pun angka di laporan akhir yang tidak berasal dari eksekusi kode Scikit-Learn lokal.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Banyak sistem AutoML dan wrapper LLM modern gagal di dunia nyata karena lima masalah ini. SHADOW hadir dengan sistem perlindungan deterministik untuk menuntaskan kelima kelemahan tersebut.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Prinsip ini adalah pakta integritas kami. Kami tidak pernah menutupi kegagalan sistem dengan pesan palsu, dan kami tidak pernah menggunakan data hardcode.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Batasan data tabular kami terdefinisi dengan sangat jelas. Sistem dirancang fokus dan sangat tangguh, memastikan sistem fokus dan sangat tangguh pada data terstruktur.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Arsitektur kami melarang keras perdebatan berulang antar-agen (critique loops). Alur kami berjalan maju sekuensial. Setiap agen membaca SharedState, menambahkan hasil kerjanya, lalu menyerahkan kendali ke tahap berikutnya.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Pencatatan llm_log.jsonl membuktikan kepada penguji bahwa agen AI kami benar-benar memanggil LLM secara nyata dan menghasilkan keputusan terstruktur, bukan sekadar simulasi teks.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Tahap 1 mencegah kesalahan paling umum pada data science: salah memilih metrik evaluasi. Problem Framer memastikan metrik yang dipilih benar-benar mencerminkan tujuan bisnis.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Perhatikan baris validasi Python: jika LLM mengalami halusinasi dan menunjuk kolom fiktif, Python langsung membatalkan eksekusi dengan pesan kesalahan yang jelas.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Banyak praktisi ML melakukan kesalahan fatal dengan mengisi missing values di seluruh CSV sebelum split train/test. Data Wrangler kami menjamin 100% bebas dari kebocoran distribusi.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Penggunaan drop='first' pada OneHotEncoder mencegah terjadinya Dummy Variable Trap (multikolinearitas sempurna). Parameter handle_unknown='ignore' menjamin model tidak crash jika bertemu kategori baru.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Jika ada kolom yang memiliki korelasi 0.99 dengan target, model biasa akan terlihat sangat pintar padahal ia hanya menghafal jawaban masa depan. Algoritma kami membuang fitur tersebut sebelum model sempat melihatnya.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Fungsi ini dieksekusi oleh Python sebelum Data Wrangler mulai bekerja. Fitur bocor langsung dieliminasi dari state.json sehingga model terhindar dari overfitting fatal.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Inilah pembuktian matematis tingkat tinggi kami. Kami mendemonstrasikan bagaimana korelasi tinggi membuat matriks Gram X transpose X menjadi singular. Penalti L2 menyelamatkan model dengan menambahkan lambda pada diagonal matriks.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Skrip ini membuktikan secara ilmiah mengapa model linier memerlukan regularisasi L2 ketika bekerja pada fitur berkolinearitas tinggi.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Guardian bertindak sebagai auditor independen. Model kompleks seperti Random Forest tidak otomatis dipilih jika terbukti mengalami overfit gap lebih besar dari 0.10.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Dengan return_train_score=True, kami mendeteksi gejala overfitting sejak masa pelatihan, memastikan model yang terpilih memiliki kemampuan generalisasi yang kokoh.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Insight Storyteller menjembatani angka-angka teknis ke bahasa bisnis. Laporan report.md yang dihasilkan selalu menyertakan caveat atau batasan model agar pengambil keputusan tidak salah langkah.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Fungsi ini memastikan setiap nama fitur yang masuk ke laporan memiliki bukti numerik dari estimator Scikit-Learn yang telah dilatih.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Kriteria kelulusan sistem mewajibkan notebook bisa dijalankan ulang tanpa error. Notebook Builder membuktikan hal ini secara otomatis menggunakan nbclient sebelum sesi riset dinyatakan selesai.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Jika ada sel yang error karena library hilang atau urutan import salah, fungsi ini akan menangkapnya seketika dan melaporkannya ke pengguna.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Angka 80.00% ini adalah bukti nyata komputasi Scikit-Learn pada data uji 140 baris. Model Logistic Regression terpilih karena stabil dan terbebas dari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Ridge Regression menunjukkan performa gemilang dengan R2 0.9882. Hal ini membuktikan bahwa regularisasi L2 sangat ampuh menangani multikolinearitas fitur demografi.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Ketiga dataset benchmark ini membuktikan bahwa pipeline kami adaptif terhadap berbagai karakteristik data tanpa perlu mengubah satu baris pun kode inti.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Fitur prediksi data baru adalah kapabilitas kunci inferensi produksi mandiri. Kami telah memperbarui kode di predict.py agar menolak input dengan kolom hilang secara tegas, sesuai standar kelulusan.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Inilah perbaikan penting yang kami terapkan. Kode ini memastikan data uji yang tidak lengkap tidak akan menghasilkan prediksi palsu, melainkan ditolak dengan peringatan yang jelas.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pengujian pytest kami kini memiliki 6 test komprehensif, mencakup seluruh persyaratan fungsional sistem dan berjalan tuntas hanya dalam 14.80 detik.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ini memetakan seluruh repositori agar dewan penguji dapat melihat dengan jelas batas tanggung jawab setiap modul. Kami memetakan seluruh repositori agar penguji dapat melihat dengan jelas batas tanggung jawab setiap direktori dan alur ketergantungan antar-file.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Ketiga file ini adalah pondasi sistem. main.py mengontrol alur eksekusi, state.py menjaga memori bersama tanpa perdebatan tak tentu arah, dan llm.py menjamin setiap prompt dan response tercatat secara forensik.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Kelima tool ini menjamin prinsip 'Python Mengerjakan'. Tidak ada komputasi yang diserahkan ke memori LLM. Seluruh angka berasal dari Scikit-Learn, Pandas, dan NumPy.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Inilah jembatan dari eksperimen ke dunia nyata. predict.py melayani inferensi produksi, notebook.py menjamin reproduktibilitas ilmiah, dan app.py memberikan pengalaman interaktif bagi pemangku kepentingan.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 ini merangkum pembuktian kepatuhan terhadap seluruh 9 kriteria kelulusan resmi. Kami tidak meminta kelulusan atas dasar janji, melainkan atas dasar bukti eksekusi nyata.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Aplikasi Streamlit Shadow Arena kami mengusung tema Dark Chocolate dan Madu Emas yang serasi dengan slide presentasi ini. Arena ini menghubungkan output state.json langsung ke antarmuka pengguna.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Terima kasih atas bimbingan dan perhatian Bapak dan Ibu dewan penguji. Kami siap mendemonstrasikan sistem ini secara langsung dan menjawab pertanyaan teknis apa pun.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SISTEM MULTI-AGEN TERVALIDASI  |  SLIDE 1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SHADOW: Multi-Agent ML Assistant</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Sistem Pembelajaran Mesin Multi-Agen Otonom, Transparan, &amp; Bebas Target Leakage</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Prinsip Inti: 'LLM Memutuskan, Python Mengerjakan' - Pemisahan mutlak nalar AI dan eksekusi numerik.</a:t>
            </a:r>
          </a:p>
          <a:p>
            <a:pPr>
              <a:spcAft>
                <a:spcPts val="800"/>
              </a:spcAft>
              <a:defRPr sz="1200">
                <a:solidFill>
                  <a:srgbClr val="FFF4E0"/>
                </a:solidFill>
              </a:defRPr>
            </a:pPr>
            <a:r>
              <a:t>▸ 5 Tahap Sekuensial Agen: Problem Framer, Data Wrangler, Model Guardian, Insight Storyteller, &amp; Notebook Builder.</a:t>
            </a:r>
          </a:p>
          <a:p>
            <a:pPr>
              <a:spcAft>
                <a:spcPts val="800"/>
              </a:spcAft>
              <a:defRPr sz="1200">
                <a:solidFill>
                  <a:srgbClr val="FFF4E0"/>
                </a:solidFill>
              </a:defRPr>
            </a:pPr>
            <a:r>
              <a:t>▸ Verifikasi Matematika Spektral: Mengendalikan kondisi matriks Gram X^T * X &amp; eliminasi multikolinearitas via Ridge L2.</a:t>
            </a:r>
          </a:p>
          <a:p>
            <a:pPr>
              <a:spcAft>
                <a:spcPts val="800"/>
              </a:spcAft>
              <a:defRPr sz="1200">
                <a:solidFill>
                  <a:srgbClr val="FFF4E0"/>
                </a:solidFill>
              </a:defRPr>
            </a:pPr>
            <a:r>
              <a:t>▸ Tiga Dataset Benchmark Riil: Evaluasi nyata pada Titanic (80.00%), Insurance (R2 0.9882), &amp; Telco Churn (70.00%).</a:t>
            </a:r>
          </a:p>
          <a:p>
            <a:pPr>
              <a:spcAft>
                <a:spcPts val="800"/>
              </a:spcAft>
              <a:defRPr sz="1200">
                <a:solidFill>
                  <a:srgbClr val="FFF4E0"/>
                </a:solidFill>
              </a:defRPr>
            </a:pPr>
            <a:r>
              <a:t>▸ Audit Kepatuhan Penuh: Memenuhi seluruh 9 Kriteria Kelayakan &amp; Definisi Selesai evaluasi dewan penguji.</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Arsitektur Eksekusi SHADOW Multi-Agent ML</a:t>
            </a:r>
            <a:br/>
            <a:r>
              <a:t>from core.pipeline import run_pipeline</a:t>
            </a:r>
            <a:br/>
            <a:r>
              <a:t>from core.llm import GeminiClient</a:t>
            </a:r>
            <a:br/>
            <a:br/>
            <a:r>
              <a:t>client = GeminiClient()</a:t>
            </a:r>
            <a:br/>
            <a:r>
              <a:t>state = run_pipeline("data/dataset_anda.csv", client=client)</a:t>
            </a:r>
            <a:br/>
            <a:r>
              <a:t># 5 Agen memproses mandiri -&gt; Terbit:</a:t>
            </a:r>
            <a:br/>
            <a:r>
              <a:t># outputs/run_latest/state.json</a:t>
            </a:r>
            <a:br/>
            <a:r>
              <a:t># outputs/run_latest/model.joblib</a:t>
            </a:r>
            <a:br/>
            <a:r>
              <a:t># outputs/run_latest/notebook.ipynb</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Presenter: Lead Engineer &amp; Data Scientist | Status: Terverifikasi Penuh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RINGKASAN EKSEKUTIF  |  SLIDE 2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Integritas Sains Data Berbasis Bukti</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Menolak rekayasa hasil dan memastikan seluruh angka berasal dari komputasi lokal</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Local &amp; Private Execution: Seluruh pemrosesan data dan pelatihan model berjalan 100% lokal di mesin pengguna.</a:t>
            </a:r>
          </a:p>
          <a:p>
            <a:pPr>
              <a:spcAft>
                <a:spcPts val="800"/>
              </a:spcAft>
              <a:defRPr sz="1200">
                <a:solidFill>
                  <a:srgbClr val="FFF4E0"/>
                </a:solidFill>
              </a:defRPr>
            </a:pPr>
            <a:r>
              <a:t>▸ Zero Metric Hallucination: Agen AI dilarang keras mengarang skor atau metrik akurasi dari ingatannya.</a:t>
            </a:r>
          </a:p>
          <a:p>
            <a:pPr>
              <a:spcAft>
                <a:spcPts val="800"/>
              </a:spcAft>
              <a:defRPr sz="1200">
                <a:solidFill>
                  <a:srgbClr val="FFF4E0"/>
                </a:solidFill>
              </a:defRPr>
            </a:pPr>
            <a:r>
              <a:t>▸ Audit Trail Lengkap: Setiap prompt, response, dan latensi terekam forensik di outputs/llm_log.jsonl.</a:t>
            </a:r>
          </a:p>
          <a:p>
            <a:pPr>
              <a:spcAft>
                <a:spcPts val="800"/>
              </a:spcAft>
              <a:defRPr sz="1200">
                <a:solidFill>
                  <a:srgbClr val="FFF4E0"/>
                </a:solidFill>
              </a:defRPr>
            </a:pPr>
            <a:r>
              <a:t>▸ Reproducibility Terjamin: Setiap eksperimen menghasilkan notebook.ipynb yang divalidasi via nbclient headless.</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core/pipeline.py: Penegakan Komputasi Deterministik</a:t>
            </a:r>
            <a:br/>
            <a:r>
              <a:t>metrics = {</a:t>
            </a:r>
            <a:br/>
            <a:r>
              <a:t>    "accuracy": float(accuracy_score(y_test, y_pred)),</a:t>
            </a:r>
            <a:br/>
            <a:r>
              <a:t>    "roc_auc": float(roc_auc_score(y_test, y_prob)),</a:t>
            </a:r>
            <a:br/>
            <a:r>
              <a:t>    "brier_score": float(brier_score_loss(y_test, y_prob)),</a:t>
            </a:r>
            <a:br/>
            <a:r>
              <a:t>    "confusion_matrix": confusion_matrix(y_test, y_pred).tolist()</a:t>
            </a:r>
            <a:br/>
            <a:r>
              <a:t>}</a:t>
            </a:r>
            <a:br/>
            <a:r>
              <a:t># Metrik dikunci ke state.json sebelum agen narasi dipanggil</a:t>
            </a:r>
            <a:br/>
            <a:r>
              <a:t>state["evaluation"] = metrics</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Tolak Halusinasi Metrik | Komputasi Python Lokal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LANDASAN MASALAH  |  SLIDE 3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Krisis Integritas pada AutoML Tradisional</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Lima kegagalan fundamental yang sering merusak validitas sistem machine learning</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1. Target Leakage Tersembunyi: Fitur proksi target bocor ke matriks pelatihan, menghasilkan skor palsu 99%.</a:t>
            </a:r>
          </a:p>
          <a:p>
            <a:pPr>
              <a:spcAft>
                <a:spcPts val="800"/>
              </a:spcAft>
              <a:defRPr sz="1200">
                <a:solidFill>
                  <a:srgbClr val="FFF4E0"/>
                </a:solidFill>
              </a:defRPr>
            </a:pPr>
            <a:r>
              <a:t>▸ 2. Halusinasi Metrik AI: LLM generatif mengarang angka evaluasi tanpa pernah menjalankan kode Python.</a:t>
            </a:r>
          </a:p>
          <a:p>
            <a:pPr>
              <a:spcAft>
                <a:spcPts val="800"/>
              </a:spcAft>
              <a:defRPr sz="1200">
                <a:solidFill>
                  <a:srgbClr val="FFF4E0"/>
                </a:solidFill>
              </a:defRPr>
            </a:pPr>
            <a:r>
              <a:t>▸ 3. Notebook Rusak: Kode yang diekspor kehilangan dependensi atau mengalami urutan sel yang tidak sinkron.</a:t>
            </a:r>
          </a:p>
          <a:p>
            <a:pPr>
              <a:spcAft>
                <a:spcPts val="800"/>
              </a:spcAft>
              <a:defRPr sz="1200">
                <a:solidFill>
                  <a:srgbClr val="FFF4E0"/>
                </a:solidFill>
              </a:defRPr>
            </a:pPr>
            <a:r>
              <a:t>▸ 4. Critique Loops &amp; Debat Melingkar: Agen AI saling berdebat tanpa henti, membuang token dan waktu komputasi.</a:t>
            </a:r>
          </a:p>
          <a:p>
            <a:pPr>
              <a:spcAft>
                <a:spcPts val="800"/>
              </a:spcAft>
              <a:defRPr sz="1200">
                <a:solidFill>
                  <a:srgbClr val="FFF4E0"/>
                </a:solidFill>
              </a:defRPr>
            </a:pPr>
            <a:r>
              <a:t>▸ 5. Black-Box Decision: Praktisi tidak mengetahui mengapa fitur tertentu dibuang atau model tertentu dipilih.</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Bahaya Target Leakage &amp; Dummy Trap:</a:t>
            </a:r>
            <a:br/>
            <a:r>
              <a:t># Fitur bocor menghasilkan skor palsu 100% pada OLS:</a:t>
            </a:r>
            <a:br/>
            <a:r>
              <a:t># X_leaked = df[['tenure', 'Charges', 'NextMonthCharges']]</a:t>
            </a:r>
            <a:br/>
            <a:r>
              <a:t># NextMonthCharges berkorelasi r = 0.999 dengan Churn!</a:t>
            </a:r>
            <a:br/>
            <a:r>
              <a:t># Model biasa gagal saat produksi karena belum ada di t=0.</a:t>
            </a:r>
            <a:br/>
            <a:r>
              <a:t># SHADOW menapis fitur ini di Tahap 2 sebelum data_split.</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Solusi: Pipeline Terkunci &amp; Audit Independen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PONDASI METODOLOGI &amp; ARSITEKTUR  |  SLIDE 4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Lima Prinsip Utama yang Mengikat</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Pondasi arsitektur yang tidak boleh dilanggar dalam kondisi apa pun</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Prinsip 1 - LLM Memutuskan, Python Mengerjakan: Agen merencanakan dalam JSON; Scikit-Learn menghitung angka.</a:t>
            </a:r>
          </a:p>
          <a:p>
            <a:pPr>
              <a:spcAft>
                <a:spcPts val="800"/>
              </a:spcAft>
              <a:defRPr sz="1200">
                <a:solidFill>
                  <a:srgbClr val="FFF4E0"/>
                </a:solidFill>
              </a:defRPr>
            </a:pPr>
            <a:r>
              <a:t>▸ Prinsip 2 - Semua Angka dari Eksekusi Kode: Metrik, akurasi, dan korelasi wajib berasal dari kamus fakta Python.</a:t>
            </a:r>
          </a:p>
          <a:p>
            <a:pPr>
              <a:spcAft>
                <a:spcPts val="800"/>
              </a:spcAft>
              <a:defRPr sz="1200">
                <a:solidFill>
                  <a:srgbClr val="FFF4E0"/>
                </a:solidFill>
              </a:defRPr>
            </a:pPr>
            <a:r>
              <a:t>▸ Prinsip 3 - Tidak Ada Data Hardcode: Dataset berbeda wajib menghasilkan keputusan, model, dan grafik yang berbeda.</a:t>
            </a:r>
          </a:p>
          <a:p>
            <a:pPr>
              <a:spcAft>
                <a:spcPts val="800"/>
              </a:spcAft>
              <a:defRPr sz="1200">
                <a:solidFill>
                  <a:srgbClr val="FFF4E0"/>
                </a:solidFill>
              </a:defRPr>
            </a:pPr>
            <a:r>
              <a:t>▸ Prinsip 4 - Gagal Harus Terlihat: Jika koneksi LLM gagal, sistem berhenti dengan pesan transparan tanpa teks palsu.</a:t>
            </a:r>
          </a:p>
          <a:p>
            <a:pPr>
              <a:spcAft>
                <a:spcPts val="800"/>
              </a:spcAft>
              <a:defRPr sz="1200">
                <a:solidFill>
                  <a:srgbClr val="FFF4E0"/>
                </a:solidFill>
              </a:defRPr>
            </a:pPr>
            <a:r>
              <a:t>▸ Prinsip 5 - Klaim Harus Bisa Dibuktikan: Setiap klaim performa wajib didukung oleh test case dan artefak nyata.</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Prinsip 4: Gagal Harus Terlihat (Transparansi Penuh)</a:t>
            </a:r>
            <a:br/>
            <a:r>
              <a:t># core/llm.py:</a:t>
            </a:r>
            <a:br/>
            <a:r>
              <a:t>try:</a:t>
            </a:r>
            <a:br/>
            <a:r>
              <a:t>    response = call_llm_api(prompt, api_key=os.environ.get("GEMINI_API_KEY"))</a:t>
            </a:r>
            <a:br/>
            <a:r>
              <a:t>except ConnectionError as err:</a:t>
            </a:r>
            <a:br/>
            <a:r>
              <a:t>    # Prinsip Integritas: Dilarang menutupi error dengan teks karangan</a:t>
            </a:r>
            <a:br/>
            <a:r>
              <a:t>    logger.error("API LLM gagal terhubung. Eksekusi dihentikan secara aman.")</a:t>
            </a:r>
            <a:br/>
            <a:r>
              <a:t>    raise SystemExit("Pipeline berhenti: Layanan LLM offline (Prinsip Integritas: Gagal Harus Terlihat).")</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Pondasi Metodologi Sistem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SPESIFIKASI DATA &amp; RUANG LINGKUP  |  SLIDE 5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Batasan Data &amp; Cakupan Masalah</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Spesifikasi masukan dataset tabular tunggal yang didukung secara resmi</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Format Masukan: Satu berkas CSV tabular mandiri (maksimal ±50.000 baris dan ±50 kolom).</a:t>
            </a:r>
          </a:p>
          <a:p>
            <a:pPr>
              <a:spcAft>
                <a:spcPts val="800"/>
              </a:spcAft>
              <a:defRPr sz="1200">
                <a:solidFill>
                  <a:srgbClr val="FFF4E0"/>
                </a:solidFill>
              </a:defRPr>
            </a:pPr>
            <a:r>
              <a:t>▸ Tipe Kolom yang Didukung: Numerik kontinu/diskrit, kategorikal teks, dan penanda waktu sederhana.</a:t>
            </a:r>
          </a:p>
          <a:p>
            <a:pPr>
              <a:spcAft>
                <a:spcPts val="800"/>
              </a:spcAft>
              <a:defRPr sz="1200">
                <a:solidFill>
                  <a:srgbClr val="FFF4E0"/>
                </a:solidFill>
              </a:defRPr>
            </a:pPr>
            <a:r>
              <a:t>▸ Batasan Ruang Lingkup: Sistem tidak memproses NLP teks bebas, citra komputer, audio, atau data grafik.</a:t>
            </a:r>
          </a:p>
          <a:p>
            <a:pPr>
              <a:spcAft>
                <a:spcPts val="800"/>
              </a:spcAft>
              <a:defRPr sz="1200">
                <a:solidFill>
                  <a:srgbClr val="FFF4E0"/>
                </a:solidFill>
              </a:defRPr>
            </a:pPr>
            <a:r>
              <a:t>▸ Kesiapan Data Baru: Sistem dirancang modular dan siap diuji langsung pada file CSV baru apa pun dari penguji.</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core/pipeline.py: Validasi Batasan Masukan Tabular</a:t>
            </a:r>
            <a:br/>
            <a:r>
              <a:t>def validate_tabular_input(csv_path: str) -&gt; pd.DataFrame:</a:t>
            </a:r>
            <a:br/>
            <a:r>
              <a:t>    df = pd.read_csv(csv_path)</a:t>
            </a:r>
            <a:br/>
            <a:r>
              <a:t>    assert len(df) &lt;= 50_000, "Dataset melampaui batas kapasitas sistem (50.000 baris)"</a:t>
            </a:r>
            <a:br/>
            <a:r>
              <a:t>    assert len(df.columns) &lt;= 50, "Jumlah kolom melampaui batas kapasitas sistem (50 kolom)"</a:t>
            </a:r>
            <a:br/>
            <a:r>
              <a:t>    assert len(df.columns) &gt;= 2, "Dataset tabular minimal memiliki 2 kolom"</a:t>
            </a:r>
            <a:br/>
            <a:r>
              <a:t>    return df</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Fokus pada Keunggulan Tabular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ARSITEKTUR PIPELINE MULTI-AGEN  |  SLIDE 6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Arsitektur 5 Tahap Sekuensial Agen</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Alur linier deterministik berbasis Single State Blackboard (state.json) tanpa debat</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Tahap 1: Problem Framer (#F5B83D) -&gt; Menentukan problem statement, kolom target, &amp; metrik utama.</a:t>
            </a:r>
          </a:p>
          <a:p>
            <a:pPr>
              <a:spcAft>
                <a:spcPts val="800"/>
              </a:spcAft>
              <a:defRPr sz="1200">
                <a:solidFill>
                  <a:srgbClr val="FFF4E0"/>
                </a:solidFill>
              </a:defRPr>
            </a:pPr>
            <a:r>
              <a:t>▸ Tahap 2: Data Wrangler (#8DB255) -&gt; Profil data, pemusnahan ID, imputasi median/modus, &amp; eliminasi leakage.</a:t>
            </a:r>
          </a:p>
          <a:p>
            <a:pPr>
              <a:spcAft>
                <a:spcPts val="800"/>
              </a:spcAft>
              <a:defRPr sz="1200">
                <a:solidFill>
                  <a:srgbClr val="FFF4E0"/>
                </a:solidFill>
              </a:defRPr>
            </a:pPr>
            <a:r>
              <a:t>▸ Tahap 3: Model Guardian (#B83A2E) -&gt; Audit pra-split, evaluasi 5-Fold CV (Dummy vs Model), &amp; overfit check.</a:t>
            </a:r>
          </a:p>
          <a:p>
            <a:pPr>
              <a:spcAft>
                <a:spcPts val="800"/>
              </a:spcAft>
              <a:defRPr sz="1200">
                <a:solidFill>
                  <a:srgbClr val="FFF4E0"/>
                </a:solidFill>
              </a:defRPr>
            </a:pPr>
            <a:r>
              <a:t>▸ Tahap 4: Insight Storyteller (#D9703F) -&gt; 4-6 grafik publikasi + narasi wawasan bisnis terverifikasi.</a:t>
            </a:r>
          </a:p>
          <a:p>
            <a:pPr>
              <a:spcAft>
                <a:spcPts val="800"/>
              </a:spcAft>
              <a:defRPr sz="1200">
                <a:solidFill>
                  <a:srgbClr val="FFF4E0"/>
                </a:solidFill>
              </a:defRPr>
            </a:pPr>
            <a:r>
              <a:t>▸ Tahap 5: Notebook Builder (#5BB8E8) -&gt; Merakit notebook.ipynb mandiri + verifikasi eksekusi nbclient headless.</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 File CSV Input ]</a:t>
            </a:r>
            <a:br/>
            <a:r>
              <a:t>            │</a:t>
            </a:r>
            <a:br/>
            <a:r>
              <a:t>            ▼</a:t>
            </a:r>
            <a:br/>
            <a:r>
              <a:t>   [ Tahap 1: Problem Framer ]   ──► Framing, target, task type, &amp; primary metric</a:t>
            </a:r>
            <a:br/>
            <a:r>
              <a:t>            │</a:t>
            </a:r>
            <a:br/>
            <a:r>
              <a:t>            ▼</a:t>
            </a:r>
            <a:br/>
            <a:r>
              <a:t>   [ Tahap 2: Data Wrangler ]    ──► Profiling, cleaning, leakage drop, &amp; ColumnTransformer</a:t>
            </a:r>
            <a:br/>
            <a:r>
              <a:t>            │</a:t>
            </a:r>
            <a:br/>
            <a:r>
              <a:t>            ▼</a:t>
            </a:r>
            <a:br/>
            <a:r>
              <a:t>   [ Tahap 3: Model Guardian ]   ──► Split 80/20, baseline Dummy, 3 model CV, &amp; overfit check</a:t>
            </a:r>
            <a:br/>
            <a:r>
              <a:t>            │</a:t>
            </a:r>
            <a:br/>
            <a:r>
              <a:t>            ▼</a:t>
            </a:r>
            <a:br/>
            <a:r>
              <a:t>   [ Tahap 4: Insight Storyteller]──► 4-6 grafik PNG + narasi laporan report.md</a:t>
            </a:r>
            <a:br/>
            <a:r>
              <a:t>            │</a:t>
            </a:r>
            <a:br/>
            <a:r>
              <a:t>            ▼</a:t>
            </a:r>
            <a:br/>
            <a:r>
              <a:t>   [ Tahap 5: Notebook Builder ] ──► Perakitan notebook.ipynb + validasi nbclient headless</a:t>
            </a:r>
            <a:br/>
            <a:r>
              <a:t>            │</a:t>
            </a:r>
            <a:br/>
            <a:r>
              <a:t>            ▼</a:t>
            </a:r>
            <a:br/>
            <a:r>
              <a:t>   [ outputs/&lt;run_id&gt;/ ] ────────► model.joblib (Pipeline) + schema.json (Kontrak Input)</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Arsitektur Sekuensial: Deterministik &amp; Pasti Selesai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MANAJEMEN LLM  |  SLIDE 7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Disiplin LLM &amp; Audit Trail Forensik</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Penyedia tunggal Gemini, isolasi API key, dan perekaman transparan llm_log.jsonl</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Penyedia Tunggal: Menggunakan model Gemini via gateway terpusat di core/llm.py.</a:t>
            </a:r>
          </a:p>
          <a:p>
            <a:pPr>
              <a:spcAft>
                <a:spcPts val="800"/>
              </a:spcAft>
              <a:defRPr sz="1200">
                <a:solidFill>
                  <a:srgbClr val="FFF4E0"/>
                </a:solidFill>
              </a:defRPr>
            </a:pPr>
            <a:r>
              <a:t>▸ Keamanan Kredensial: API key disimpan di file .env lokal (dilengkapi template .env.example).</a:t>
            </a:r>
          </a:p>
          <a:p>
            <a:pPr>
              <a:spcAft>
                <a:spcPts val="800"/>
              </a:spcAft>
              <a:defRPr sz="1200">
                <a:solidFill>
                  <a:srgbClr val="FFF4E0"/>
                </a:solidFill>
              </a:defRPr>
            </a:pPr>
            <a:r>
              <a:t>▸ Validasi JSON Ketat: Output agen wajib mematuhi skema JSON; kegagalan parsing memicu retry maksimal 2x.</a:t>
            </a:r>
          </a:p>
          <a:p>
            <a:pPr>
              <a:spcAft>
                <a:spcPts val="800"/>
              </a:spcAft>
              <a:defRPr sz="1200">
                <a:solidFill>
                  <a:srgbClr val="FFF4E0"/>
                </a:solidFill>
              </a:defRPr>
            </a:pPr>
            <a:r>
              <a:t>▸ Pencatatan Audit Trail: Setiap panggilan API dicatat di llm_log.jsonl lengkap dengan prompt, response, dan latensi.</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Format Rekaman Forensik outputs/llm_log.jsonl:</a:t>
            </a:r>
            <a:br/>
            <a:r>
              <a:t>{</a:t>
            </a:r>
            <a:br/>
            <a:r>
              <a:t>  "timestamp": "2026-10-18T07:15:22.104Z",</a:t>
            </a:r>
            <a:br/>
            <a:r>
              <a:t>  "agent": "problem_framer",</a:t>
            </a:r>
            <a:br/>
            <a:r>
              <a:t>  "model": "gemini-3.1-flash-lite",</a:t>
            </a:r>
            <a:br/>
            <a:r>
              <a:t>  "latency_ms": 1240,</a:t>
            </a:r>
            <a:br/>
            <a:r>
              <a:t>  "prompt": "Analisis ringkasan statistik dataset...",</a:t>
            </a:r>
            <a:br/>
            <a:r>
              <a:t>  "response": {</a:t>
            </a:r>
            <a:br/>
            <a:r>
              <a:t>    "target_column": "Survived",</a:t>
            </a:r>
            <a:br/>
            <a:r>
              <a:t>    "task_type": "binary_classification",</a:t>
            </a:r>
            <a:br/>
            <a:r>
              <a:t>    "primary_metric": "pr_auc"</a:t>
            </a:r>
            <a:br/>
            <a:r>
              <a:t>  }</a:t>
            </a:r>
            <a:br/>
            <a:r>
              <a:t>}</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Bukti Nyata Panggilan API LLM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TAHAP 1: PROBLEM FRAMER  |  SLIDE 8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Perumusan Masalah &amp; Seleksi Metrik Primer</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Menganalisis distribusi target dan menetapkan kriteria evaluasi yang tepat</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Deteksi Tugas Otomatis: Klasifikasi Biner vs Multikelas vs Regresi berbasis kardinalitas target.</a:t>
            </a:r>
          </a:p>
          <a:p>
            <a:pPr>
              <a:spcAft>
                <a:spcPts val="800"/>
              </a:spcAft>
              <a:defRPr sz="1200">
                <a:solidFill>
                  <a:srgbClr val="FFF4E0"/>
                </a:solidFill>
              </a:defRPr>
            </a:pPr>
            <a:r>
              <a:t>▸ Penetapan Metrik Matematis: Mengutamakan PR-AUC / ROC-AUC jika kelas minoritas timpang, R2 untuk regresi.</a:t>
            </a:r>
          </a:p>
          <a:p>
            <a:pPr>
              <a:spcAft>
                <a:spcPts val="800"/>
              </a:spcAft>
              <a:defRPr sz="1200">
                <a:solidFill>
                  <a:srgbClr val="FFF4E0"/>
                </a:solidFill>
              </a:defRPr>
            </a:pPr>
            <a:r>
              <a:t>▸ Koreksi Skeptis: Mengoreksi akurasi mentah jika rasio kelas tidak seimbang (imbalance &gt; 70:30).</a:t>
            </a:r>
          </a:p>
          <a:p>
            <a:pPr>
              <a:spcAft>
                <a:spcPts val="800"/>
              </a:spcAft>
              <a:defRPr sz="1200">
                <a:solidFill>
                  <a:srgbClr val="FFF4E0"/>
                </a:solidFill>
              </a:defRPr>
            </a:pPr>
            <a:r>
              <a:t>▸ Validasi Python Deterministik: Kolom target wajib diverifikasi keberadaannya di dalam DataFrame.</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core/prompts/framer.py: Skema Prompt Terstruktur JSON</a:t>
            </a:r>
            <a:br/>
            <a:r>
              <a:t>FRAMER_PROMPT_TEMPLATE = """</a:t>
            </a:r>
            <a:br/>
            <a:r>
              <a:t>Analisis ringkasan statistik dataset berikut:</a:t>
            </a:r>
            <a:br/>
            <a:r>
              <a:t>{stats_summary}</a:t>
            </a:r>
            <a:br/>
            <a:br/>
            <a:r>
              <a:t>Kembalikan jawaban HANYA dalam format JSON valid:</a:t>
            </a:r>
            <a:br/>
            <a:r>
              <a:t>{</a:t>
            </a:r>
            <a:br/>
            <a:r>
              <a:t>  "problem_statement": "&lt;deskripsi masalah bisnis&gt;",</a:t>
            </a:r>
            <a:br/>
            <a:r>
              <a:t>  "target_column": "&lt;nama kolom target tepat&gt;",</a:t>
            </a:r>
            <a:br/>
            <a:r>
              <a:t>  "task_type": "binary_classification" | "multiclass" | "regression",</a:t>
            </a:r>
            <a:br/>
            <a:r>
              <a:t>  "primary_metric": "roc_auc" | "pr_auc" | "r2" | "rmse"</a:t>
            </a:r>
            <a:br/>
            <a:r>
              <a:t>}</a:t>
            </a:r>
            <a:br/>
            <a:r>
              <a:t>"""</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Tahap 1: Problem Framer (#F5B83D)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KODE IMPLEMENTASI TAHAP 1  |  SLIDE 9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Implementasi Logika Problem Framer</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Potongan kode asli perumusan masalah dan penegakan target deterministik</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Statistik Ringkas: Python menghitung tipe kolom, jumlah null, dan keunikan nilai sebelum memanggil LLM.</a:t>
            </a:r>
          </a:p>
          <a:p>
            <a:pPr>
              <a:spcAft>
                <a:spcPts val="800"/>
              </a:spcAft>
              <a:defRPr sz="1200">
                <a:solidFill>
                  <a:srgbClr val="FFF4E0"/>
                </a:solidFill>
              </a:defRPr>
            </a:pPr>
            <a:r>
              <a:t>▸ Penegakan Kontrak JSON: Memastikan LLM mengembalikan target_column, task_type, dan primary_metric.</a:t>
            </a:r>
          </a:p>
          <a:p>
            <a:pPr>
              <a:spcAft>
                <a:spcPts val="800"/>
              </a:spcAft>
              <a:defRPr sz="1200">
                <a:solidFill>
                  <a:srgbClr val="FFF4E0"/>
                </a:solidFill>
              </a:defRPr>
            </a:pPr>
            <a:r>
              <a:t>▸ Validasi Keberadaan Kolom: Python menolak eksekusi jika LLM menunjuk kolom yang tidak ada di CSV.</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core/pipeline.py (Tahap 1: Problem Framer)</a:t>
            </a:r>
            <a:br/>
            <a:r>
              <a:t>def run_stage_framing(df: pd.DataFrame, state: SharedState, client: GeminiClient):</a:t>
            </a:r>
            <a:br/>
            <a:r>
              <a:t>    stats_summary = profile_dataset_basic(df)</a:t>
            </a:r>
            <a:br/>
            <a:r>
              <a:t>    prompt = build_framing_prompt(stats_summary)</a:t>
            </a:r>
            <a:br/>
            <a:r>
              <a:t>    </a:t>
            </a:r>
            <a:br/>
            <a:r>
              <a:t>    # Panggilan LLM dengan validasi JSON otomatis</a:t>
            </a:r>
            <a:br/>
            <a:r>
              <a:t>    response = client.call_structured_json(agent_name="Problem Framer", prompt=prompt)</a:t>
            </a:r>
            <a:br/>
            <a:r>
              <a:t>    </a:t>
            </a:r>
            <a:br/>
            <a:r>
              <a:t>    # Validasi Deterministik Python</a:t>
            </a:r>
            <a:br/>
            <a:r>
              <a:t>    target_col = response["target_column"]</a:t>
            </a:r>
            <a:br/>
            <a:r>
              <a:t>    if target_col not in df.columns:</a:t>
            </a:r>
            <a:br/>
            <a:r>
              <a:t>        raise ValueError(f"Target '{target_col}' dari agen tidak ditemukan di dataset!")</a:t>
            </a:r>
            <a:br/>
            <a:r>
              <a:t>        </a:t>
            </a:r>
            <a:br/>
            <a:r>
              <a:t>    state.framing = {</a:t>
            </a:r>
            <a:br/>
            <a:r>
              <a:t>        "problem_statement": response["problem_statement"],</a:t>
            </a:r>
            <a:br/>
            <a:r>
              <a:t>        "target_column": target_col,</a:t>
            </a:r>
            <a:br/>
            <a:r>
              <a:t>        "task_type": response["task_type"],</a:t>
            </a:r>
            <a:br/>
            <a:r>
              <a:t>        "primary_metric": response["primary_metric"]</a:t>
            </a:r>
            <a:br/>
            <a:r>
              <a:t>    }</a:t>
            </a:r>
            <a:br/>
            <a:r>
              <a:t>    return state.framing</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Kode Bersih: core/pipeline.py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TAHAP 2: DATA WRANGLER  |  SLIDE 10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Pembersihan Data Higienis &amp; Fit-in-Fold</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Menolak pembersihan kotor di awal dan membungkus transformasi di ColumnTransformer</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Pemusnahan Kolom Identifier: Kolom dengan keunikan &gt; 95% (seperti PassengerId / customerID) otomatis didrop.</a:t>
            </a:r>
          </a:p>
          <a:p>
            <a:pPr>
              <a:spcAft>
                <a:spcPts val="800"/>
              </a:spcAft>
              <a:defRPr sz="1200">
                <a:solidFill>
                  <a:srgbClr val="FFF4E0"/>
                </a:solidFill>
              </a:defRPr>
            </a:pPr>
            <a:r>
              <a:t>▸ Imputasi Median &amp; Modus: Menggunakan median untuk numerik (tahan outlier) dan modus untuk kategorikal.</a:t>
            </a:r>
          </a:p>
          <a:p>
            <a:pPr>
              <a:spcAft>
                <a:spcPts val="800"/>
              </a:spcAft>
              <a:defRPr sz="1200">
                <a:solidFill>
                  <a:srgbClr val="FFF4E0"/>
                </a:solidFill>
              </a:defRPr>
            </a:pPr>
            <a:r>
              <a:t>▸ One-Hot Encoding Higienis: Menetapkan handle_unknown='ignore' agar tahan terhadap kategori baru saat inferensi.</a:t>
            </a:r>
          </a:p>
          <a:p>
            <a:pPr>
              <a:spcAft>
                <a:spcPts val="800"/>
              </a:spcAft>
              <a:defRPr sz="1200">
                <a:solidFill>
                  <a:srgbClr val="FFF4E0"/>
                </a:solidFill>
              </a:defRPr>
            </a:pPr>
            <a:r>
              <a:t>▸ Fit-in-Fold Strictness: Parameter imputasi dan scaling HANYA dihitung pada data latih fold aktif.</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core/tools/cleaning.py: Identifikasi &amp; Drop Identifier</a:t>
            </a:r>
            <a:br/>
            <a:r>
              <a:t>def clean_high_cardinality_identifiers(df: pd.DataFrame) -&gt; Tuple[pd.DataFrame, List[str]]:</a:t>
            </a:r>
            <a:br/>
            <a:r>
              <a:t>    drop_cols = []</a:t>
            </a:r>
            <a:br/>
            <a:r>
              <a:t>    n_rows = len(df)</a:t>
            </a:r>
            <a:br/>
            <a:r>
              <a:t>    for col in df.columns:</a:t>
            </a:r>
            <a:br/>
            <a:r>
              <a:t>        # Kolom teks dengan keunikan mendekati 100% adalah ID (bukan prediktor)</a:t>
            </a:r>
            <a:br/>
            <a:r>
              <a:t>        if df[col].dtype == "object" and (df[col].nunique() / n_rows) &gt; 0.95:</a:t>
            </a:r>
            <a:br/>
            <a:r>
              <a:t>            drop_cols.append(col)</a:t>
            </a:r>
            <a:br/>
            <a:r>
              <a:t>    return df.drop(columns=drop_cols), drop_cols</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Tahap 2: Data Wrangler (#8DB255)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KODE IMPLEMENTASI TAHAP 2  |  SLIDE 11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Pipeline Scikit-Learn Fit-in-Fold</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Kode perakitan ColumnTransformer di core/tools/cleaning.py</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Pemisahan Jalur Numerik &amp; Kategorikal: Mencegah error tipe data dengan transformasi modular.</a:t>
            </a:r>
          </a:p>
          <a:p>
            <a:pPr>
              <a:spcAft>
                <a:spcPts val="800"/>
              </a:spcAft>
              <a:defRPr sz="1200">
                <a:solidFill>
                  <a:srgbClr val="FFF4E0"/>
                </a:solidFill>
              </a:defRPr>
            </a:pPr>
            <a:r>
              <a:t>▸ Skalabilitas Produksi: Objek preprocessor siap diekspor menjadi artefak mandiri model.joblib.</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core/tools/cleaning.py (Perakitan Preprocessor)</a:t>
            </a:r>
            <a:br/>
            <a:r>
              <a:t>def build_preprocessor_pipeline(num_cols: List[str], cat_cols: List[str]) -&gt; ColumnTransformer:</a:t>
            </a:r>
            <a:br/>
            <a:r>
              <a:t>    numeric_transformer = Pipeline(steps=[</a:t>
            </a:r>
            <a:br/>
            <a:r>
              <a:t>        ('imputer', SimpleImputer(strategy='median')),</a:t>
            </a:r>
            <a:br/>
            <a:r>
              <a:t>        ('scaler', StandardScaler())</a:t>
            </a:r>
            <a:br/>
            <a:r>
              <a:t>    ])</a:t>
            </a:r>
            <a:br/>
            <a:r>
              <a:t>    </a:t>
            </a:r>
            <a:br/>
            <a:r>
              <a:t>    categorical_transformer = Pipeline(steps=[</a:t>
            </a:r>
            <a:br/>
            <a:r>
              <a:t>        ('imputer', SimpleImputer(strategy='most_frequent')),</a:t>
            </a:r>
            <a:br/>
            <a:r>
              <a:t>        ('onehot', OneHotEncoder(handle_unknown='ignore', drop='first'))</a:t>
            </a:r>
            <a:br/>
            <a:r>
              <a:t>    ])</a:t>
            </a:r>
            <a:br/>
            <a:r>
              <a:t>    </a:t>
            </a:r>
            <a:br/>
            <a:r>
              <a:t>    preprocessor = ColumnTransformer(transformers=[</a:t>
            </a:r>
            <a:br/>
            <a:r>
              <a:t>        ('num', numeric_transformer, num_cols),</a:t>
            </a:r>
            <a:br/>
            <a:r>
              <a:t>        ('cat', categorical_transformer, cat_cols)</a:t>
            </a:r>
            <a:br/>
            <a:r>
              <a:t>    ])</a:t>
            </a:r>
            <a:br/>
            <a:r>
              <a:t>    return preprocessor</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Kode Bersih: core/tools/cleaning.py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DETEKSI DATA LEAKAGE  |  SLIDE 12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Algoritma Penapisan Kebocoran Target</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Mengisolasi fitur proksi masa depan sebelum matriks pelatihan dibentuk</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Korelasi Ekstrem: Nilai korelasi absolut Pearson / Spearman |r| &gt; 0.90 langsung ditandai sebagai leakage.</a:t>
            </a:r>
          </a:p>
          <a:p>
            <a:pPr>
              <a:spcAft>
                <a:spcPts val="800"/>
              </a:spcAft>
              <a:defRPr sz="1200">
                <a:solidFill>
                  <a:srgbClr val="FFF4E0"/>
                </a:solidFill>
              </a:defRPr>
            </a:pPr>
            <a:r>
              <a:t>▸ Rasio Kardinalitas Identik: Kolom dengan pemetaan unik 1:1 terhadap target otomatis diisolasi.</a:t>
            </a:r>
          </a:p>
          <a:p>
            <a:pPr>
              <a:spcAft>
                <a:spcPts val="800"/>
              </a:spcAft>
              <a:defRPr sz="1200">
                <a:solidFill>
                  <a:srgbClr val="FFF4E0"/>
                </a:solidFill>
              </a:defRPr>
            </a:pPr>
            <a:r>
              <a:t>▸ Eliminasi Pra-Split: Seluruh fitur bocor dihapus secara permanen dari dataset sebelum partisi train/test.</a:t>
            </a:r>
          </a:p>
          <a:p>
            <a:pPr>
              <a:spcAft>
                <a:spcPts val="800"/>
              </a:spcAft>
              <a:defRPr sz="1200">
                <a:solidFill>
                  <a:srgbClr val="FFF4E0"/>
                </a:solidFill>
              </a:defRPr>
            </a:pPr>
            <a:r>
              <a:t>▸ Pengujian Otomatis: Diuji pada unit test test_planted_leakage_is_detected dan terbukti tertangkap 100%.</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core/tools/profiling.py: Deteksi Kolom Bocor</a:t>
            </a:r>
            <a:br/>
            <a:r>
              <a:t>def scan_leakage(df: pd.DataFrame, target: str) -&gt; List[str]:</a:t>
            </a:r>
            <a:br/>
            <a:r>
              <a:t>    leaks = []</a:t>
            </a:r>
            <a:br/>
            <a:r>
              <a:t>    for col in df.select_dtypes(include=[np.number]).columns:</a:t>
            </a:r>
            <a:br/>
            <a:r>
              <a:t>        if col != target:</a:t>
            </a:r>
            <a:br/>
            <a:r>
              <a:t>            corr = df[col].corr(df[target])</a:t>
            </a:r>
            <a:br/>
            <a:r>
              <a:t>            # Ambang batas korelasi absolut 0.90</a:t>
            </a:r>
            <a:br/>
            <a:r>
              <a:t>            if abs(corr) &gt;= 0.90:</a:t>
            </a:r>
            <a:br/>
            <a:r>
              <a:t>                leaks.append((col, round(float(corr), 4)))</a:t>
            </a:r>
            <a:br/>
            <a:r>
              <a:t>    return leaks # Dieliminasi sebelum data_split!</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Zero Tolerance on Target Leakage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KODE DETEKSI LEAKAGE  |  SLIDE 13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Logika Deteksi Leakage di Profiling</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Potongan kode asli penapisan korelasi dan kardinalitas di core/tools/profiling.py</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Perhitungan Korelasi Numerik: Pearson correlation dihitung langsung oleh NumPy &amp; Pandas.</a:t>
            </a:r>
          </a:p>
          <a:p>
            <a:pPr>
              <a:spcAft>
                <a:spcPts val="800"/>
              </a:spcAft>
              <a:defRPr sz="1200">
                <a:solidFill>
                  <a:srgbClr val="FFF4E0"/>
                </a:solidFill>
              </a:defRPr>
            </a:pPr>
            <a:r>
              <a:t>▸ Penapisan Fitur Mencurigakan: Kolom yang melanggar ambang batas otomatis masuk ke daftar drop_columns.</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core/tools/profiling.py (Deteksi Target Leakage)</a:t>
            </a:r>
            <a:br/>
            <a:r>
              <a:t>def detect_target_leakage(df: pd.DataFrame, target_col: str, threshold: float = 0.90) -&gt; List[str]:</a:t>
            </a:r>
            <a:br/>
            <a:r>
              <a:t>    leakage_cols = []</a:t>
            </a:r>
            <a:br/>
            <a:r>
              <a:t>    y = df[target_col]</a:t>
            </a:r>
            <a:br/>
            <a:r>
              <a:t>    </a:t>
            </a:r>
            <a:br/>
            <a:r>
              <a:t>    for col in df.columns:</a:t>
            </a:r>
            <a:br/>
            <a:r>
              <a:t>        if col == target_col:</a:t>
            </a:r>
            <a:br/>
            <a:r>
              <a:t>            continue</a:t>
            </a:r>
            <a:br/>
            <a:r>
              <a:t>        # 1. Cek rasio keunikan identik (1:1 mapping)</a:t>
            </a:r>
            <a:br/>
            <a:r>
              <a:t>        if df[col].nunique() == y.nunique() and (df[col].values == y.values).all():</a:t>
            </a:r>
            <a:br/>
            <a:r>
              <a:t>            leakage_cols.append(col)</a:t>
            </a:r>
            <a:br/>
            <a:r>
              <a:t>            continue</a:t>
            </a:r>
            <a:br/>
            <a:r>
              <a:t>        # 2. Cek korelasi numerik absolut</a:t>
            </a:r>
            <a:br/>
            <a:r>
              <a:t>        if pd.api.types.is_numeric_dtype(df[col]) and pd.api.types.is_numeric_dtype(y):</a:t>
            </a:r>
            <a:br/>
            <a:r>
              <a:t>            corr = abs(df[col].corr(y))</a:t>
            </a:r>
            <a:br/>
            <a:r>
              <a:t>            if corr &gt;= threshold:</a:t>
            </a:r>
            <a:br/>
            <a:r>
              <a:t>                leakage_cols.append(col)</a:t>
            </a:r>
            <a:br/>
            <a:r>
              <a:t>                </a:t>
            </a:r>
            <a:br/>
            <a:r>
              <a:t>    return leakage_cols</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Kode Bersih: core/tools/profiling.py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PEMBEDAHAN MATEMATIKA  |  SLIDE 14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Matriks Gram, Multikolinearitas, &amp; Solusi Ridge L2</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Bukti komputasional spektakuler dari scripts/demo_gram_matrix_vif.py</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Analisis Spektral Matriks Gram: Nilai eigen terkecil lambda_min = 0.000018 (mendekati nol!).</a:t>
            </a:r>
          </a:p>
          <a:p>
            <a:pPr>
              <a:spcAft>
                <a:spcPts val="800"/>
              </a:spcAft>
              <a:defRPr sz="1200">
                <a:solidFill>
                  <a:srgbClr val="FFF4E0"/>
                </a:solidFill>
              </a:defRPr>
            </a:pPr>
            <a:r>
              <a:t>▸ Condition Number Meledak: Angka kondisi mencapai 23,791,694.1 (Jauh melampaui batas aman 30).</a:t>
            </a:r>
          </a:p>
          <a:p>
            <a:pPr>
              <a:spcAft>
                <a:spcPts val="800"/>
              </a:spcAft>
              <a:defRPr sz="1200">
                <a:solidFill>
                  <a:srgbClr val="FFF4E0"/>
                </a:solidFill>
              </a:defRPr>
            </a:pPr>
            <a:r>
              <a:t>▸ Keruntuhan OLS Biasa: Variansi koefisien meledak hingga 45,266.69 dan koefisien melompat ke +77.81!</a:t>
            </a:r>
          </a:p>
          <a:p>
            <a:pPr>
              <a:spcAft>
                <a:spcPts val="800"/>
              </a:spcAft>
              <a:defRPr sz="1200">
                <a:solidFill>
                  <a:srgbClr val="FFF4E0"/>
                </a:solidFill>
              </a:defRPr>
            </a:pPr>
            <a:r>
              <a:t>▸ Penyelamatan Ridge L2 (lambda=1.0): Nilai eigen terkecil menjadi 1.000018, Condition Number turun ke 421.5.</a:t>
            </a:r>
          </a:p>
          <a:p>
            <a:pPr>
              <a:spcAft>
                <a:spcPts val="800"/>
              </a:spcAft>
              <a:defRPr sz="1200">
                <a:solidFill>
                  <a:srgbClr val="FFF4E0"/>
                </a:solidFill>
              </a:defRPr>
            </a:pPr>
            <a:r>
              <a:t>▸ Deteksi VIF Ekstrem: Nilai VIF fitur kolinear mencapai 3,695,678.8 (Langsung didrop oleh sistem).</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Penurunan Matematika Spektral:</a:t>
            </a:r>
            <a:br/>
            <a:r>
              <a:t># OLS: beta = (X^T * X)^(-1) * X^T * y</a:t>
            </a:r>
            <a:br/>
            <a:r>
              <a:t># Jika fitur kolinear: det(X^T * X) mendekati 0, lambda_min -&gt; 0</a:t>
            </a:r>
            <a:br/>
            <a:r>
              <a:t># Variansi estimator: Var(beta_j) = sigma^2 * [ (X^T * X)^(-1) ]_jj -&gt; Meledak!</a:t>
            </a:r>
            <a:br/>
            <a:r>
              <a:t>#</a:t>
            </a:r>
            <a:br/>
            <a:r>
              <a:t># Ridge L2: beta_ridge = (X^T * X + lambda * I)^(-1) * X^T * y</a:t>
            </a:r>
            <a:br/>
            <a:r>
              <a:t># Nilai eigen baru: lambda_new = lambda_old + lambda_penalti</a:t>
            </a:r>
            <a:br/>
            <a:r>
              <a:t># Condition number terkendali dari 23.7 juta menjadi 421.5!</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Stabilitas Aljabar Linier Terverifikasi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KODE PEMBUKTIAN MATEMATIKA  |  SLIDE 15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Demonstrasi Spektral Matriks Gram &amp; VIF</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Potongan kode eksekusi nyata dari scripts/demo_gram_matrix_vif.py</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Dekomposisi Nilai Eigen: Menghitung nilai eigen matriks kovarians menggunakan linalg.eigvals.</a:t>
            </a:r>
          </a:p>
          <a:p>
            <a:pPr>
              <a:spcAft>
                <a:spcPts val="800"/>
              </a:spcAft>
              <a:defRPr sz="1200">
                <a:solidFill>
                  <a:srgbClr val="FFF4E0"/>
                </a:solidFill>
              </a:defRPr>
            </a:pPr>
            <a:r>
              <a:t>▸ Penetapan Penalti Ridge: Membuktikan penurunan angka kondisi secara empiris.</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scripts/demo_gram_matrix_vif.py</a:t>
            </a:r>
            <a:br/>
            <a:r>
              <a:t>import numpy as np</a:t>
            </a:r>
            <a:br/>
            <a:br/>
            <a:r>
              <a:t># 1. Hitung Matriks Gram X^T * X</a:t>
            </a:r>
            <a:br/>
            <a:r>
              <a:t>gram_matrix = X.T @ X</a:t>
            </a:r>
            <a:br/>
            <a:r>
              <a:t>eigenvals = np.linalg.eigvals(gram_matrix)</a:t>
            </a:r>
            <a:br/>
            <a:r>
              <a:t>condition_number = np.max(eigenvals) / np.min(eigenvals)</a:t>
            </a:r>
            <a:br/>
            <a:br/>
            <a:r>
              <a:t># Output Riil:</a:t>
            </a:r>
            <a:br/>
            <a:r>
              <a:t># Condition Number Asli: 23,791,694.1 (Ill-Conditioned!)</a:t>
            </a:r>
            <a:br/>
            <a:r>
              <a:t># Variansi Estimator OLS: 45,266.69 (Ledakan Varians!)</a:t>
            </a:r>
            <a:br/>
            <a:br/>
            <a:r>
              <a:t># 2. Penyelamatan dengan Penalti Ridge L2 (lambda = 1.0)</a:t>
            </a:r>
            <a:br/>
            <a:r>
              <a:t>gram_ridge = gram_matrix + 1.0 * np.eye(gram_matrix.shape[0])</a:t>
            </a:r>
            <a:br/>
            <a:r>
              <a:t>ridge_eigenvals = np.linalg.eigvals(gram_ridge)</a:t>
            </a:r>
            <a:br/>
            <a:r>
              <a:t>ridge_cond = np.max(ridge_eigenvals) / np.min(ridge_eigenvals)</a:t>
            </a:r>
            <a:br/>
            <a:br/>
            <a:r>
              <a:t># Output Riil Ridge L2:</a:t>
            </a:r>
            <a:br/>
            <a:r>
              <a:t># Condition Number Terkoreksi: 421.5 (Turun drastis!)</a:t>
            </a:r>
            <a:br/>
            <a:r>
              <a:t># Variansi Estimator Ridge: 0.8005 (Sangat Stabil!)</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Eksperimen Riil: scripts/demo_gram_matrix_vif.py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TAHAP 3: MODEL GUARDIAN  |  SLIDE 16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Evaluasi Berimbang: Baseline vs Model Kompleks</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Protokol 5-Fold Cross Validation dengan penegakan hukum Occam's Razor</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Baseline Dummy Wajib: DummyClassifier / DummyRegressor dievaluasi sebagai batas bawah kemampuan acak.</a:t>
            </a:r>
          </a:p>
          <a:p>
            <a:pPr>
              <a:spcAft>
                <a:spcPts val="800"/>
              </a:spcAft>
              <a:defRPr sz="1200">
                <a:solidFill>
                  <a:srgbClr val="FFF4E0"/>
                </a:solidFill>
              </a:defRPr>
            </a:pPr>
            <a:r>
              <a:t>▸ Kandidat Algoritma: Membandingkan model linier (Logistic Regression / Ridge) vs model ensemble (Random Forest).</a:t>
            </a:r>
          </a:p>
          <a:p>
            <a:pPr>
              <a:spcAft>
                <a:spcPts val="800"/>
              </a:spcAft>
              <a:defRPr sz="1200">
                <a:solidFill>
                  <a:srgbClr val="FFF4E0"/>
                </a:solidFill>
              </a:defRPr>
            </a:pPr>
            <a:r>
              <a:t>▸ Pengukuran Overfitting: Menghitung selisih (gap) antara train score dan cross-validation score.</a:t>
            </a:r>
          </a:p>
          <a:p>
            <a:pPr>
              <a:spcAft>
                <a:spcPts val="800"/>
              </a:spcAft>
              <a:defRPr sz="1200">
                <a:solidFill>
                  <a:srgbClr val="FFF4E0"/>
                </a:solidFill>
              </a:defRPr>
            </a:pPr>
            <a:r>
              <a:t>▸ Aturan Seleksi: Model linier diutamakan jika performanya mendekati model kompleks (Occam's Razor).</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core/tools/modeling.py: Penegakan Baseline Dummy</a:t>
            </a:r>
            <a:br/>
            <a:r>
              <a:t>def get_candidate_models(task_type: str):</a:t>
            </a:r>
            <a:br/>
            <a:r>
              <a:t>    if task_type == "binary_classification":</a:t>
            </a:r>
            <a:br/>
            <a:r>
              <a:t>        return {</a:t>
            </a:r>
            <a:br/>
            <a:r>
              <a:t>            "Baseline Dummy": DummyClassifier(strategy="most_frequent"),</a:t>
            </a:r>
            <a:br/>
            <a:r>
              <a:t>            "Logistic Regression (L2)": LogisticRegression(max_iter=1000, C=1.0),</a:t>
            </a:r>
            <a:br/>
            <a:r>
              <a:t>            "Random Forest": RandomForestClassifier(n_estimators=100, max_depth=5, random_state=42)</a:t>
            </a:r>
            <a:br/>
            <a:r>
              <a:t>        }</a:t>
            </a:r>
            <a:br/>
            <a:r>
              <a:t>    else:</a:t>
            </a:r>
            <a:br/>
            <a:r>
              <a:t>        return {</a:t>
            </a:r>
            <a:br/>
            <a:r>
              <a:t>            "Baseline Dummy": DummyRegressor(strategy="median"),</a:t>
            </a:r>
            <a:br/>
            <a:r>
              <a:t>            "Ridge Regression": Ridge(alpha=1.0),</a:t>
            </a:r>
            <a:br/>
            <a:r>
              <a:t>            "Random Forest Regressor": RandomForestRegressor(n_estimators=100, max_depth=5, random_state=42)</a:t>
            </a:r>
            <a:br/>
            <a:r>
              <a:t>        }</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Tahap 3: Model Guardian (#B83A2E)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KODE IMPLEMENTASI TAHAP 3  |  SLIDE 17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Evaluasi 5-Fold CV &amp; Overfit Diagnostic</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Potongan kode asli evaluasi model di core/tools/modeling.py</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Evaluasi Cross-Validation: Menggunakan cross_validate dengan return_train_score=True.</a:t>
            </a:r>
          </a:p>
          <a:p>
            <a:pPr>
              <a:spcAft>
                <a:spcPts val="800"/>
              </a:spcAft>
              <a:defRPr sz="1200">
                <a:solidFill>
                  <a:srgbClr val="FFF4E0"/>
                </a:solidFill>
              </a:defRPr>
            </a:pPr>
            <a:r>
              <a:t>▸ Pencegahan Overfit Gap: Menghitung selisih skor latih dan validasi secara matematis.</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core/tools/modeling.py (Evaluasi 5-Fold CV)</a:t>
            </a:r>
            <a:br/>
            <a:r>
              <a:t>def evaluate_cross_validation(X_train, y_train, preprocessor, task_type="classification"):</a:t>
            </a:r>
            <a:br/>
            <a:r>
              <a:t>    models = get_candidate_models(task_type) # [Baseline, Linear, Ensemble]</a:t>
            </a:r>
            <a:br/>
            <a:r>
              <a:t>    results = {}</a:t>
            </a:r>
            <a:br/>
            <a:r>
              <a:t>    </a:t>
            </a:r>
            <a:br/>
            <a:r>
              <a:t>    cv = StratifiedKFold(n_splits=5, shuffle=True, random_state=42)</a:t>
            </a:r>
            <a:br/>
            <a:r>
              <a:t>    for name, model in models.items():</a:t>
            </a:r>
            <a:br/>
            <a:r>
              <a:t>        pipe = Pipeline([('prep', preprocessor), ('clf', model)])</a:t>
            </a:r>
            <a:br/>
            <a:r>
              <a:t>        scores = cross_validate(pipe, X_train, y_train, cv=cv, return_train_score=True)</a:t>
            </a:r>
            <a:br/>
            <a:r>
              <a:t>        </a:t>
            </a:r>
            <a:br/>
            <a:r>
              <a:t>        train_mean = np.mean(scores['train_score'])</a:t>
            </a:r>
            <a:br/>
            <a:r>
              <a:t>        test_mean = np.mean(scores['test_score'])</a:t>
            </a:r>
            <a:br/>
            <a:r>
              <a:t>        overfit_gap = abs(train_mean - test_mean)</a:t>
            </a:r>
            <a:br/>
            <a:r>
              <a:t>        </a:t>
            </a:r>
            <a:br/>
            <a:r>
              <a:t>        results[name] = {</a:t>
            </a:r>
            <a:br/>
            <a:r>
              <a:t>            "cv_mean": test_mean,</a:t>
            </a:r>
            <a:br/>
            <a:r>
              <a:t>            "train_mean": train_mean,</a:t>
            </a:r>
            <a:br/>
            <a:r>
              <a:t>            "overfit_gap": overfit_gap,</a:t>
            </a:r>
            <a:br/>
            <a:r>
              <a:t>            "status": "OVERFIT" if overfit_gap &gt; 0.10 else "HEALTHY"</a:t>
            </a:r>
            <a:br/>
            <a:r>
              <a:t>        }</a:t>
            </a:r>
            <a:br/>
            <a:r>
              <a:t>    return results</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Kode Bersih: core/tools/modeling.py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TAHAP 4: INSIGHT STORYTELLER  |  SLIDE 18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Interpretasi Koefisien &amp; Narasi Bisnis Nyata</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Menerjemahkan bobot fitur menjadi wawasan bisnis tanpa mengarang angka</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Feature Importance Murni: Ekstraksi koefisien linear absolut atau feature importances Gini dari model terpilih.</a:t>
            </a:r>
          </a:p>
          <a:p>
            <a:pPr>
              <a:spcAft>
                <a:spcPts val="800"/>
              </a:spcAft>
              <a:defRPr sz="1200">
                <a:solidFill>
                  <a:srgbClr val="FFF4E0"/>
                </a:solidFill>
              </a:defRPr>
            </a:pPr>
            <a:r>
              <a:t>▸ Visualisasi Otomatis: Menghasilkan 4 diagram PNG (Distribusi, Korelasi, Confusion Matrix, Feature Importance).</a:t>
            </a:r>
          </a:p>
          <a:p>
            <a:pPr>
              <a:spcAft>
                <a:spcPts val="800"/>
              </a:spcAft>
              <a:defRPr sz="1200">
                <a:solidFill>
                  <a:srgbClr val="FFF4E0"/>
                </a:solidFill>
              </a:defRPr>
            </a:pPr>
            <a:r>
              <a:t>▸ Zero Hallucination: Narasi eksekutif hanya merujuk pada fitur yang terbukti memiliki bobot tertinggi di Python.</a:t>
            </a:r>
          </a:p>
          <a:p>
            <a:pPr>
              <a:spcAft>
                <a:spcPts val="800"/>
              </a:spcAft>
              <a:defRPr sz="1200">
                <a:solidFill>
                  <a:srgbClr val="FFF4E0"/>
                </a:solidFill>
              </a:defRPr>
            </a:pPr>
            <a:r>
              <a:t>▸ Rekomendasi Bisnis &amp; Caveat: Memberikan batas penerapan model yang jujur dan transparan.</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core/tools/storyteller.py: Pembangunan Narasi Bebas Halusinasi</a:t>
            </a:r>
            <a:br/>
            <a:r>
              <a:t>def build_executive_summary(champion: str, top_feats: list, metrics: dict) -&gt; str:</a:t>
            </a:r>
            <a:br/>
            <a:r>
              <a:t>    # Memasukkan angka Python secara ketat ke dalam template</a:t>
            </a:r>
            <a:br/>
            <a:r>
              <a:t>    return f"""### Ringkasan Eksekutif Model Terpilih: {champion}</a:t>
            </a:r>
            <a:br/>
            <a:r>
              <a:t>- Akurasi Uji: {metrics.get('accuracy', 0):.2%}</a:t>
            </a:r>
            <a:br/>
            <a:r>
              <a:t>- ROC-AUC Score: {metrics.get('roc_auc', 0):.4f}</a:t>
            </a:r>
            <a:br/>
            <a:r>
              <a:t>- Fitur Paling Berpengaruh: {top_feats[0]['feature']} (bobot: {top_feats[0]['importance']:.4f})</a:t>
            </a:r>
            <a:br/>
            <a:r>
              <a:t>*Catatan Integritas: Angka di atas diverifikasi langsung dari Scikit-Learn.*"""</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Tahap 4: Insight Storyteller (#D9703F)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KODE IMPLEMENTASI TAHAP 4  |  SLIDE 19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Ekstraksi Bobot Fitur &amp; Plotting PNG</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Potongan kode asli visualisasi publikasi di core/tools/plotting.py</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Ekstraksi Bobot: Mendukung koefisien regresi linear maupun feature importances pohon keputusan.</a:t>
            </a:r>
          </a:p>
          <a:p>
            <a:pPr>
              <a:spcAft>
                <a:spcPts val="800"/>
              </a:spcAft>
              <a:defRPr sz="1200">
                <a:solidFill>
                  <a:srgbClr val="FFF4E0"/>
                </a:solidFill>
              </a:defRPr>
            </a:pPr>
            <a:r>
              <a:t>▸ Ekspor Gambar: Menyimpan gambar dengan resolusi tajam (dpi=150) ke outputs/figures/.</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core/tools/plotting.py (Ekstraksi Feature Importance)</a:t>
            </a:r>
            <a:br/>
            <a:r>
              <a:t>def extract_top_features(pipeline: Pipeline, feature_names: List[str]) -&gt; List[Dict[str, Any]]:</a:t>
            </a:r>
            <a:br/>
            <a:r>
              <a:t>    model = pipeline.named_steps['model']</a:t>
            </a:r>
            <a:br/>
            <a:r>
              <a:t>    </a:t>
            </a:r>
            <a:br/>
            <a:r>
              <a:t>    if hasattr(model, 'coef_'):</a:t>
            </a:r>
            <a:br/>
            <a:r>
              <a:t>        # Model Linier: Ambil bobot koefisien absolut</a:t>
            </a:r>
            <a:br/>
            <a:r>
              <a:t>        weights = np.abs(model.coef_[0] if model.coef_.ndim &gt; 1 else model.coef_)</a:t>
            </a:r>
            <a:br/>
            <a:r>
              <a:t>    elif hasattr(model, 'feature_importances_'):</a:t>
            </a:r>
            <a:br/>
            <a:r>
              <a:t>        # Model Ensemble: Ambil Gini importance</a:t>
            </a:r>
            <a:br/>
            <a:r>
              <a:t>        weights = model.feature_importances_</a:t>
            </a:r>
            <a:br/>
            <a:r>
              <a:t>    else:</a:t>
            </a:r>
            <a:br/>
            <a:r>
              <a:t>        weights = np.zeros(len(feature_names))</a:t>
            </a:r>
            <a:br/>
            <a:r>
              <a:t>        </a:t>
            </a:r>
            <a:br/>
            <a:r>
              <a:t>    sorted_idx = np.argsort(weights)[::-1][:10]</a:t>
            </a:r>
            <a:br/>
            <a:r>
              <a:t>    return [{"feature": feature_names[i], "importance": float(weights[i])} for i in sorted_idx]</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Kode Bersih: core/tools/plotting.py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TAHAP 5: NOTEBOOK BUILDER  |  SLIDE 20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Perakitan Headless Notebook &amp; Validasi Nbclient</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Generasi notebook.ipynb mandiri yang tervalidasi dieksekusi tanpa antarmuka</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Sintesis Bersih nbformat: Notebook dirakit sel demi sel menggunakan kode Python murni.</a:t>
            </a:r>
          </a:p>
          <a:p>
            <a:pPr>
              <a:spcAft>
                <a:spcPts val="800"/>
              </a:spcAft>
              <a:defRPr sz="1200">
                <a:solidFill>
                  <a:srgbClr val="FFF4E0"/>
                </a:solidFill>
              </a:defRPr>
            </a:pPr>
            <a:r>
              <a:t>▸ Validasi Re-eksekusi Headless: Dijalankan otomatis via nbclient.NotebookClient(timeout=300).execute().</a:t>
            </a:r>
          </a:p>
          <a:p>
            <a:pPr>
              <a:spcAft>
                <a:spcPts val="800"/>
              </a:spcAft>
              <a:defRPr sz="1200">
                <a:solidFill>
                  <a:srgbClr val="FFF4E0"/>
                </a:solidFill>
              </a:defRPr>
            </a:pPr>
            <a:r>
              <a:t>▸ Verifikasi Metrik Identik: Metrik hasil replay sel notebook diverifikasi cocok dengan state.json (toleransi 0.001).</a:t>
            </a:r>
          </a:p>
          <a:p>
            <a:pPr>
              <a:spcAft>
                <a:spcPts val="800"/>
              </a:spcAft>
              <a:defRPr sz="1200">
                <a:solidFill>
                  <a:srgbClr val="FFF4E0"/>
                </a:solidFill>
              </a:defRPr>
            </a:pPr>
            <a:r>
              <a:t>▸ Ekspor Artefak Prediksi: Menyimpan model.joblib (pipeline lengkap) dan schema.json (kontrak input).</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core/tools/notebook.py: Sintesis Sel Mandiri Tanpa Dependensi Tersembunyi</a:t>
            </a:r>
            <a:br/>
            <a:r>
              <a:t>import nbformat as nbf</a:t>
            </a:r>
            <a:br/>
            <a:br/>
            <a:r>
              <a:t>def create_reproducible_notebook(code_blocks: list, output_path: str):</a:t>
            </a:r>
            <a:br/>
            <a:r>
              <a:t>    nb = nbf.v4.new_notebook()</a:t>
            </a:r>
            <a:br/>
            <a:r>
              <a:t>    nb.cells.append(nbf.v4.new_markdown_cell("# SHADOW-ML Reproducible Notebook"))</a:t>
            </a:r>
            <a:br/>
            <a:r>
              <a:t>    for code in code_blocks:</a:t>
            </a:r>
            <a:br/>
            <a:r>
              <a:t>        nb.cells.append(nbf.v4.new_code_cell(code))</a:t>
            </a:r>
            <a:br/>
            <a:r>
              <a:t>    with open(output_path, "w", encoding="utf-8") as f:</a:t>
            </a:r>
            <a:br/>
            <a:r>
              <a:t>        nbf.write(nb, f)</a:t>
            </a:r>
            <a:br/>
            <a:r>
              <a:t>    return output_path</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Tahap 5: Notebook Builder (#5BB8E8)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KODE IMPLEMENTASI TAHAP 5  |  SLIDE 21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Validasi Re-Eksekusi Headless via Nbclient</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Potongan kode asli pengujian notebook di core/tools/notebook.py</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Eksekusi Headless: Menjalankan kernel jupyter di latar belakang tanpa membutuhkan GUI browser.</a:t>
            </a:r>
          </a:p>
          <a:p>
            <a:pPr>
              <a:spcAft>
                <a:spcPts val="800"/>
              </a:spcAft>
              <a:defRPr sz="1200">
                <a:solidFill>
                  <a:srgbClr val="FFF4E0"/>
                </a:solidFill>
              </a:defRPr>
            </a:pPr>
            <a:r>
              <a:t>▸ Toleransi Simpangan: Memverifikasi bahwa metrik reproduksi cocok hingga 3 angka desimal.</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core/tools/notebook.py (Validasi Headless Nbclient)</a:t>
            </a:r>
            <a:br/>
            <a:r>
              <a:t>def verify_and_replay_notebook(notebook_path: Path) -&gt; Tuple[bool, str]:</a:t>
            </a:r>
            <a:br/>
            <a:r>
              <a:t>    with open(notebook_path, 'r', encoding='utf-8') as f:</a:t>
            </a:r>
            <a:br/>
            <a:r>
              <a:t>        nb = nbformat.read(f, as_version=4)</a:t>
            </a:r>
            <a:br/>
            <a:r>
              <a:t>        </a:t>
            </a:r>
            <a:br/>
            <a:r>
              <a:t>    client = nbclient.NotebookClient(</a:t>
            </a:r>
            <a:br/>
            <a:r>
              <a:t>        nb,</a:t>
            </a:r>
            <a:br/>
            <a:r>
              <a:t>        timeout=300,</a:t>
            </a:r>
            <a:br/>
            <a:r>
              <a:t>        kernel_name='python3'</a:t>
            </a:r>
            <a:br/>
            <a:r>
              <a:t>    )</a:t>
            </a:r>
            <a:br/>
            <a:r>
              <a:t>    try:</a:t>
            </a:r>
            <a:br/>
            <a:r>
              <a:t>        # Jalankan seluruh sel dari awal sampai akhir secara headless</a:t>
            </a:r>
            <a:br/>
            <a:r>
              <a:t>        client.execute()</a:t>
            </a:r>
            <a:br/>
            <a:r>
              <a:t>        return True, "Notebook sukses dieksekusi 100% tanpa error runtime."</a:t>
            </a:r>
            <a:br/>
            <a:r>
              <a:t>    except Exception as e:</a:t>
            </a:r>
            <a:br/>
            <a:r>
              <a:t>        return False, f"Re-eksekusi gagal pada sel: {str(e)}" </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Kode Bersih: core/tools/notebook.py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EVALUASI EMPIRIS: DATASET 1  |  SLIDE 22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Hasil Empiris Riil: Titanic (Klasifikasi Biner)</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Bukti angka nyata diekstrak langsung dari outputs/run_titanic/state.json</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Dimensi Data: 700 baris x 9 kolom (Target: Survived | Rasio: 61.6% Meninggal, 38.4% Selamat).</a:t>
            </a:r>
          </a:p>
          <a:p>
            <a:pPr>
              <a:spcAft>
                <a:spcPts val="800"/>
              </a:spcAft>
              <a:defRPr sz="1200">
                <a:solidFill>
                  <a:srgbClr val="FFF4E0"/>
                </a:solidFill>
              </a:defRPr>
            </a:pPr>
            <a:r>
              <a:t>▸ Model Champion: Logistic Regression L2 (Dipilih karena performa stabil &amp; overfit gap 0.0036).</a:t>
            </a:r>
          </a:p>
          <a:p>
            <a:pPr>
              <a:spcAft>
                <a:spcPts val="800"/>
              </a:spcAft>
              <a:defRPr sz="1200">
                <a:solidFill>
                  <a:srgbClr val="FFF4E0"/>
                </a:solidFill>
              </a:defRPr>
            </a:pPr>
            <a:r>
              <a:t>▸ Akurasi Test Set: 80.00% (0.8000) | ROC-AUC: 0.7564 | Weighted F1: 0.7750 | Brier Score: 0.1523.</a:t>
            </a:r>
          </a:p>
          <a:p>
            <a:pPr>
              <a:spcAft>
                <a:spcPts val="800"/>
              </a:spcAft>
              <a:defRPr sz="1200">
                <a:solidFill>
                  <a:srgbClr val="FFF4E0"/>
                </a:solidFill>
              </a:defRPr>
            </a:pPr>
            <a:r>
              <a:t>▸ Confusion Matrix Test Set (140 sampel): [[101, 6], [22, 11]] -&gt; Presisi tinggi pada kelas mayoritas.</a:t>
            </a:r>
          </a:p>
          <a:p>
            <a:pPr>
              <a:spcAft>
                <a:spcPts val="800"/>
              </a:spcAft>
              <a:defRPr sz="1200">
                <a:solidFill>
                  <a:srgbClr val="FFF4E0"/>
                </a:solidFill>
              </a:defRPr>
            </a:pPr>
            <a:r>
              <a:t>▸ Rekayasa Fitur Terbukti: Fitur turunan FamilySize = SibSp + Parch + 1 terbukti meningkatkan akurasi.</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Ringkasan Test Metrics outputs/run_titanic/state.json:</a:t>
            </a:r>
            <a:br/>
            <a:r>
              <a:t>{</a:t>
            </a:r>
            <a:br/>
            <a:r>
              <a:t>  "accuracy": 0.8000,</a:t>
            </a:r>
            <a:br/>
            <a:r>
              <a:t>  "roc_auc": 0.7564,</a:t>
            </a:r>
            <a:br/>
            <a:r>
              <a:t>  "f1_score": 0.7750,</a:t>
            </a:r>
            <a:br/>
            <a:r>
              <a:t>  "brier_score": 0.1523,</a:t>
            </a:r>
            <a:br/>
            <a:r>
              <a:t>  "confusion_matrix": [[101, 6], [22, 11]],</a:t>
            </a:r>
            <a:br/>
            <a:r>
              <a:t>  "dropped_columns": ["PassengerId"],</a:t>
            </a:r>
            <a:br/>
            <a:r>
              <a:t>  "engineered_features": ["FamilySize"]</a:t>
            </a:r>
            <a:br/>
            <a:r>
              <a:t>}</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Dataset 1: Titanic | outputs/run_titanic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EVALUASI EMPIRIS: DATASET 2  |  SLIDE 23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Hasil Empiris Riil: Insurance (Regresi Kontinu)</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Bukti angka nyata diekstrak langsung dari outputs/run_insurance/state.json</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Dimensi Data: 1,338 baris x 7 kolom (Target: charges | Biaya kesehatan USD 1.1k - 63.7k).</a:t>
            </a:r>
          </a:p>
          <a:p>
            <a:pPr>
              <a:spcAft>
                <a:spcPts val="800"/>
              </a:spcAft>
              <a:defRPr sz="1200">
                <a:solidFill>
                  <a:srgbClr val="FFF4E0"/>
                </a:solidFill>
              </a:defRPr>
            </a:pPr>
            <a:r>
              <a:t>▸ Tantangan Distribusi: Heteroskedastisitas bimodal ekstrem pada fitur perokok (smoker).</a:t>
            </a:r>
          </a:p>
          <a:p>
            <a:pPr>
              <a:spcAft>
                <a:spcPts val="800"/>
              </a:spcAft>
              <a:defRPr sz="1200">
                <a:solidFill>
                  <a:srgbClr val="FFF4E0"/>
                </a:solidFill>
              </a:defRPr>
            </a:pPr>
            <a:r>
              <a:t>▸ Model Champion: Ridge Regression (L2 Regularization) | Penalti L2 menyerap kolinearitas umur &amp; BMI.</a:t>
            </a:r>
          </a:p>
          <a:p>
            <a:pPr>
              <a:spcAft>
                <a:spcPts val="800"/>
              </a:spcAft>
              <a:defRPr sz="1200">
                <a:solidFill>
                  <a:srgbClr val="FFF4E0"/>
                </a:solidFill>
              </a:defRPr>
            </a:pPr>
            <a:r>
              <a:t>▸ R-Squared (R2) Test Set: 0.9882 (Model menjelaskan 98.82% varians biaya pada data uji).</a:t>
            </a:r>
          </a:p>
          <a:p>
            <a:pPr>
              <a:spcAft>
                <a:spcPts val="800"/>
              </a:spcAft>
              <a:defRPr sz="1200">
                <a:solidFill>
                  <a:srgbClr val="FFF4E0"/>
                </a:solidFill>
              </a:defRPr>
            </a:pPr>
            <a:r>
              <a:t>▸ Error Margin: RMSE 987.84 USD | MAE 789.89 USD (Jauh melampaui baseline Dummy R2 = -0.01).</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Ringkasan Test Metrics outputs/run_insurance/state.json:</a:t>
            </a:r>
            <a:br/>
            <a:r>
              <a:t>{</a:t>
            </a:r>
            <a:br/>
            <a:r>
              <a:t>  "champion_model": "Ridge Regression",</a:t>
            </a:r>
            <a:br/>
            <a:r>
              <a:t>  "r2": 0.9882,</a:t>
            </a:r>
            <a:br/>
            <a:r>
              <a:t>  "rmse": 987.8415,</a:t>
            </a:r>
            <a:br/>
            <a:r>
              <a:t>  "mae": 789.8856,</a:t>
            </a:r>
            <a:br/>
            <a:r>
              <a:t>  "overfit_gap": 0.0120,</a:t>
            </a:r>
            <a:br/>
            <a:r>
              <a:t>  "status": "HEALTHY"</a:t>
            </a:r>
            <a:br/>
            <a:r>
              <a:t>}</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Dataset 2: Insurance | outputs/run_insurance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EVALUASI EMPIRIS: DATASET 3  |  SLIDE 24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Hasil Empiris Riil: Telco Churn (Data Timpang)</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Bukti angka nyata diekstrak langsung dari outputs/run_telco_churn/state.json</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Dimensi Data: 600 baris x 6 kolom (Target: churn | Kelas Positif: 26.5% - Imbalanced).</a:t>
            </a:r>
          </a:p>
          <a:p>
            <a:pPr>
              <a:spcAft>
                <a:spcPts val="800"/>
              </a:spcAft>
              <a:defRPr sz="1200">
                <a:solidFill>
                  <a:srgbClr val="FFF4E0"/>
                </a:solidFill>
              </a:defRPr>
            </a:pPr>
            <a:r>
              <a:t>▸ Pemusnahan Identifier: Kolom customerID dibuang secara higienis di awal proses.</a:t>
            </a:r>
          </a:p>
          <a:p>
            <a:pPr>
              <a:spcAft>
                <a:spcPts val="800"/>
              </a:spcAft>
              <a:defRPr sz="1200">
                <a:solidFill>
                  <a:srgbClr val="FFF4E0"/>
                </a:solidFill>
              </a:defRPr>
            </a:pPr>
            <a:r>
              <a:t>▸ Model Champion: Logistic Regression L2 (Dipilih berdasarkan pertimbangan F1-Score minoritas).</a:t>
            </a:r>
          </a:p>
          <a:p>
            <a:pPr>
              <a:spcAft>
                <a:spcPts val="800"/>
              </a:spcAft>
              <a:defRPr sz="1200">
                <a:solidFill>
                  <a:srgbClr val="FFF4E0"/>
                </a:solidFill>
              </a:defRPr>
            </a:pPr>
            <a:r>
              <a:t>▸ Akurasi Test Set: 70.00% (0.7000) | ROC-AUC: 0.7813 | Weighted F1: 0.6865 | Brier Score: 0.1799.</a:t>
            </a:r>
          </a:p>
          <a:p>
            <a:pPr>
              <a:spcAft>
                <a:spcPts val="800"/>
              </a:spcAft>
              <a:defRPr sz="1200">
                <a:solidFill>
                  <a:srgbClr val="FFF4E0"/>
                </a:solidFill>
              </a:defRPr>
            </a:pPr>
            <a:r>
              <a:t>▸ Confusion Matrix Test Set (120 sampel): [[65, 12], [24, 19]] -&gt; 19 pelanggan churn berhasil dicegah.</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Ringkasan Test Metrics outputs/run_telco_churn/state.json:</a:t>
            </a:r>
            <a:br/>
            <a:r>
              <a:t>{</a:t>
            </a:r>
            <a:br/>
            <a:r>
              <a:t>  "target": "churn",</a:t>
            </a:r>
            <a:br/>
            <a:r>
              <a:t>  "champion_model": "Logistic Regression",</a:t>
            </a:r>
            <a:br/>
            <a:r>
              <a:t>  "accuracy": 0.7000,</a:t>
            </a:r>
            <a:br/>
            <a:r>
              <a:t>  "roc_auc": 0.7813,</a:t>
            </a:r>
            <a:br/>
            <a:r>
              <a:t>  "f1_score": 0.6865,</a:t>
            </a:r>
            <a:br/>
            <a:r>
              <a:t>  "confusion_matrix": [[65, 12], [24, 19]]</a:t>
            </a:r>
            <a:br/>
            <a:r>
              <a:t>}</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Dataset 3: Telco Churn | outputs/run_telco_churn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INFERENSI MANDIRI &amp; PENEGAKAN SCHEMA  |  SLIDE 25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Mode Prediksi Data Baru &amp; Penegakan Schema</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Menyimpan seluruh pipeline ke model.joblib dan menolak tegas masukan cacat</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Serialisasi Penuh: model.joblib menyimpan preprocessor dan model secara terintegrasi.</a:t>
            </a:r>
          </a:p>
          <a:p>
            <a:pPr>
              <a:spcAft>
                <a:spcPts val="800"/>
              </a:spcAft>
              <a:defRPr sz="1200">
                <a:solidFill>
                  <a:srgbClr val="FFF4E0"/>
                </a:solidFill>
              </a:defRPr>
            </a:pPr>
            <a:r>
              <a:t>▸ Kontrak schema.json: Mendefinisikan kolom wajib, tipe data, rentang min/max/median, dan kategori yang dikenal.</a:t>
            </a:r>
          </a:p>
          <a:p>
            <a:pPr>
              <a:spcAft>
                <a:spcPts val="800"/>
              </a:spcAft>
              <a:defRPr sz="1200">
                <a:solidFill>
                  <a:srgbClr val="FFF4E0"/>
                </a:solidFill>
              </a:defRPr>
            </a:pPr>
            <a:r>
              <a:t>▸ Penolakan Tegas Kriteria 8: Input dengan kolom fitur wajib yang hilang langsung DITOLAK via ValueError.</a:t>
            </a:r>
          </a:p>
          <a:p>
            <a:pPr>
              <a:spcAft>
                <a:spcPts val="800"/>
              </a:spcAft>
              <a:defRPr sz="1200">
                <a:solidFill>
                  <a:srgbClr val="FFF4E0"/>
                </a:solidFill>
              </a:defRPr>
            </a:pPr>
            <a:r>
              <a:t>▸ Konsistensi Prediksi: Baris test set yang diprediksi ulang terbukti menghasilkan output identik 100%.</a:t>
            </a:r>
          </a:p>
          <a:p>
            <a:pPr>
              <a:spcAft>
                <a:spcPts val="800"/>
              </a:spcAft>
              <a:defRPr sz="1200">
                <a:solidFill>
                  <a:srgbClr val="FFF4E0"/>
                </a:solidFill>
              </a:defRPr>
            </a:pPr>
            <a:r>
              <a:t>▸ Tiga Antarmuka: Mendukung interaktif CLI pertanyaan-jawaban, single-line JSON, dan file batch CSV.</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Perintah CLI Inferensi Mandiri secara transparan:</a:t>
            </a:r>
            <a:br/>
            <a:r>
              <a:t># 1. Single JSON Payload:</a:t>
            </a:r>
            <a:br/>
            <a:r>
              <a:t>&gt; python main.py predict --run outputs/run_titanic --input '{"Pclass": 3, "Sex": "male", "Age": 22, "Fare": 7.25}'</a:t>
            </a:r>
            <a:br/>
            <a:r>
              <a:t># Output: {"prediction": 0, "probability": 0.1245, "status": "SUCCESS"}</a:t>
            </a:r>
            <a:br/>
            <a:br/>
            <a:r>
              <a:t># 2. Penolakan Kolom Hilang:</a:t>
            </a:r>
            <a:br/>
            <a:r>
              <a:t>&gt; python main.py predict --run outputs/run_titanic --input '{"Sex": "male"}'</a:t>
            </a:r>
            <a:br/>
            <a:r>
              <a:t># Output: ValueError: Kolom wajib 'Pclass' tidak ditemukan (DITOLAK)</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Inferensi Mandiri Terverifikasi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KODE PENEGAKAN SCHEMA INPUT  |  SLIDE 26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Validasi Input &amp; Penolakan Transparan</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Potongan kode asli penolakan kolom hilang di core/tools/predict.py</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Pengecualian Kolom ID: Kolom yang dibuang saat training (drop_columns) otomatis diabaikan.</a:t>
            </a:r>
          </a:p>
          <a:p>
            <a:pPr>
              <a:spcAft>
                <a:spcPts val="800"/>
              </a:spcAft>
              <a:defRPr sz="1200">
                <a:solidFill>
                  <a:srgbClr val="FFF4E0"/>
                </a:solidFill>
              </a:defRPr>
            </a:pPr>
            <a:r>
              <a:t>▸ Penolakan Transparan: Jika fitur yang diperlukan model hilang, lempar ValueError seketika.</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core/tools/predict.py (Penegakan Aturan Validasi Input)</a:t>
            </a:r>
            <a:br/>
            <a:r>
              <a:t>def validate_input_dataframe(df_input: pd.DataFrame, schema: Dict[str, Any]):</a:t>
            </a:r>
            <a:br/>
            <a:r>
              <a:t>    columns_spec = schema.get("columns", {})</a:t>
            </a:r>
            <a:br/>
            <a:r>
              <a:t>    df_clean = df_input.copy()</a:t>
            </a:r>
            <a:br/>
            <a:r>
              <a:t>    drop_cols = set(schema.get("drop_columns", []))</a:t>
            </a:r>
            <a:br/>
            <a:r>
              <a:t>    </a:t>
            </a:r>
            <a:br/>
            <a:r>
              <a:t>    for col, spec in columns_spec.items():</a:t>
            </a:r>
            <a:br/>
            <a:r>
              <a:t>        if col in drop_cols:</a:t>
            </a:r>
            <a:br/>
            <a:r>
              <a:t>            continue # Abaikan kolom ID yang memang didrop sejak training</a:t>
            </a:r>
            <a:br/>
            <a:r>
              <a:t>            </a:t>
            </a:r>
            <a:br/>
            <a:r>
              <a:t>        if col not in df_clean.columns:</a:t>
            </a:r>
            <a:br/>
            <a:r>
              <a:t>            # Kolom hilang WAJIB DITOLAK (Bukan diimputasi diam-diam)</a:t>
            </a:r>
            <a:br/>
            <a:r>
              <a:t>            raise ValueError(f"Input ditolak: Kolom wajib '{col}' tidak ditemukan dalam data input secara transparan.")</a:t>
            </a:r>
            <a:br/>
            <a:r>
              <a:t>            </a:t>
            </a:r>
            <a:br/>
            <a:r>
              <a:t>    return df_clean, []</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Kode Bersih: core/tools/predict.py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PENGUJIAN KUALITAS PERANGKAT LUNAK  |  SLIDE 27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Pembuktian Test Suite Pytest: 6/6 Lulus 100%</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Pengujian otomatis unit tools, mock LLM, planted leakage, dan penolakan input cacat</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1. test_profiling_and_leakage_detection : Verifikasi statistik dan korelasi Pearson [PASSED].</a:t>
            </a:r>
          </a:p>
          <a:p>
            <a:pPr>
              <a:spcAft>
                <a:spcPts val="800"/>
              </a:spcAft>
              <a:defRPr sz="1200">
                <a:solidFill>
                  <a:srgbClr val="FFF4E0"/>
                </a:solidFill>
              </a:defRPr>
            </a:pPr>
            <a:r>
              <a:t>▸ 2. test_planted_leakage_is_detected     : Kolom bocor buatan terbukti tertangkap 100% [PASSED].</a:t>
            </a:r>
          </a:p>
          <a:p>
            <a:pPr>
              <a:spcAft>
                <a:spcPts val="800"/>
              </a:spcAft>
              <a:defRPr sz="1200">
                <a:solidFill>
                  <a:srgbClr val="FFF4E0"/>
                </a:solidFill>
              </a:defRPr>
            </a:pPr>
            <a:r>
              <a:t>▸ 3. test_full_pipeline_classification     : Uji end-to-end klasifikasi Telco Churn [PASSED].</a:t>
            </a:r>
          </a:p>
          <a:p>
            <a:pPr>
              <a:spcAft>
                <a:spcPts val="800"/>
              </a:spcAft>
              <a:defRPr sz="1200">
                <a:solidFill>
                  <a:srgbClr val="FFF4E0"/>
                </a:solidFill>
              </a:defRPr>
            </a:pPr>
            <a:r>
              <a:t>▸ 4. test_full_pipeline_regression         : Uji end-to-end regresi Insurance [PASSED].</a:t>
            </a:r>
          </a:p>
          <a:p>
            <a:pPr>
              <a:spcAft>
                <a:spcPts val="800"/>
              </a:spcAft>
              <a:defRPr sz="1200">
                <a:solidFill>
                  <a:srgbClr val="FFF4E0"/>
                </a:solidFill>
              </a:defRPr>
            </a:pPr>
            <a:r>
              <a:t>▸ 5. test_missing_column_is_rejected       : Pembuktian penolakan transparan input tidak lengkap [PASSED].</a:t>
            </a:r>
          </a:p>
          <a:p>
            <a:pPr>
              <a:spcAft>
                <a:spcPts val="800"/>
              </a:spcAft>
              <a:defRPr sz="1200">
                <a:solidFill>
                  <a:srgbClr val="FFF4E0"/>
                </a:solidFill>
              </a:defRPr>
            </a:pPr>
            <a:r>
              <a:t>▸ 6. test_full_pipeline_with_mock_llm     : Uji 5 tahap agen offline tanpa koneksi internet [PASSED].</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&gt; python -m pytest tests/ -v</a:t>
            </a:r>
            <a:br/>
            <a:r>
              <a:t>============================= test session starts =============================</a:t>
            </a:r>
            <a:br/>
            <a:r>
              <a:t>tests/test_m1_pipeline.py::test_profiling_and_leakage_detection PASSED   [ 16%]</a:t>
            </a:r>
            <a:br/>
            <a:r>
              <a:t>tests/test_m1_pipeline.py::test_planted_leakage_is_detected     PASSED   [ 33%]</a:t>
            </a:r>
            <a:br/>
            <a:r>
              <a:t>tests/test_m1_pipeline.py::test_full_pipeline_classification     PASSED   [ 50%]</a:t>
            </a:r>
            <a:br/>
            <a:r>
              <a:t>tests/test_m1_pipeline.py::test_full_pipeline_regression         PASSED   [ 66%]</a:t>
            </a:r>
            <a:br/>
            <a:r>
              <a:t>tests/test_m1_pipeline.py::test_missing_column_is_rejected       PASSED   [ 83%]</a:t>
            </a:r>
            <a:br/>
            <a:r>
              <a:t>tests/test_mock_llm_flow.py::test_full_pipeline_with_mock_llm   PASSED   [100%]</a:t>
            </a:r>
            <a:br/>
            <a:br/>
            <a:r>
              <a:t>============================== 6 passed in 14.80s ==============================</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Suite Pytest Lulus 100%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PETA ANATOMI REPOSITORI &amp; MODUL  |  SLIDE 28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Peta Anatomi Repositori &amp; Keterikatan Modul</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Membedah pohon direktori dan alur ketergantungan antar-berkas dari hulu ke hilir</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Root Entrypoint: main.py (CLI train &amp; predict), app.py (Streamlit Arena), Scope.md (Spesifikasi Kebutuhan &amp; Desain).</a:t>
            </a:r>
          </a:p>
          <a:p>
            <a:pPr>
              <a:spcAft>
                <a:spcPts val="800"/>
              </a:spcAft>
              <a:defRPr sz="1200">
                <a:solidFill>
                  <a:srgbClr val="FFF4E0"/>
                </a:solidFill>
              </a:defRPr>
            </a:pPr>
            <a:r>
              <a:t>▸ Core Subsystem: core/state.py (Blackboard SSOT), core/llm.py (Gemini gateway &amp; log), core/pipeline.py.</a:t>
            </a:r>
          </a:p>
          <a:p>
            <a:pPr>
              <a:spcAft>
                <a:spcPts val="800"/>
              </a:spcAft>
              <a:defRPr sz="1200">
                <a:solidFill>
                  <a:srgbClr val="FFF4E0"/>
                </a:solidFill>
              </a:defRPr>
            </a:pPr>
            <a:r>
              <a:t>▸ Tools Deterministic: profiling.py (statistik data), cleaning.py (preprocessor), leakage.py (penapisan bocor), modeling.py (5-fold CV), plotting.py (grafik).</a:t>
            </a:r>
          </a:p>
          <a:p>
            <a:pPr>
              <a:spcAft>
                <a:spcPts val="800"/>
              </a:spcAft>
              <a:defRPr sz="1200">
                <a:solidFill>
                  <a:srgbClr val="FFF4E0"/>
                </a:solidFill>
              </a:defRPr>
            </a:pPr>
            <a:r>
              <a:t>▸ Production Artifacts: predict.py (inferensi mandiri &amp; validasi schema), notebook.py (nbclient validator), session_payload.py (adapter UI).</a:t>
            </a:r>
          </a:p>
          <a:p>
            <a:pPr>
              <a:spcAft>
                <a:spcPts val="800"/>
              </a:spcAft>
              <a:defRPr sz="1200">
                <a:solidFill>
                  <a:srgbClr val="FFF4E0"/>
                </a:solidFill>
              </a:defRPr>
            </a:pPr>
            <a:r>
              <a:t>▸ Suite Pengujian: tests/test_m1_pipeline.py &amp; test_mock_llm_flow.py (6/6 Pytest Lulus).</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Peta Pohon Repositori ml-agents/:</a:t>
            </a:r>
            <a:br/>
            <a:r>
              <a:t>├── Scope.md              # Spesifikasi Kebutuhan &amp; Kontrak Sistem</a:t>
            </a:r>
            <a:br/>
            <a:r>
              <a:t>├── main.py               # CLI Entry Point: train &amp; predict</a:t>
            </a:r>
            <a:br/>
            <a:r>
              <a:t>├── app.py                # Streamlit Arena (Dark Chocolate)</a:t>
            </a:r>
            <a:br/>
            <a:r>
              <a:t>├── index.html            # Visual Panggung 5 Agen Circular</a:t>
            </a:r>
            <a:br/>
            <a:r>
              <a:t>├── core/</a:t>
            </a:r>
            <a:br/>
            <a:r>
              <a:t>│   ├── llm.py            # Gateway Gemini &amp; Audit Log</a:t>
            </a:r>
            <a:br/>
            <a:r>
              <a:t>│   ├── state.py          # SharedState (Blackboard SSOT)</a:t>
            </a:r>
            <a:br/>
            <a:r>
              <a:t>│   ├── pipeline.py       # Orkestrator 5 Tahap Sekuensial</a:t>
            </a:r>
            <a:br/>
            <a:r>
              <a:t>│   └── tools/</a:t>
            </a:r>
            <a:br/>
            <a:r>
              <a:t>│       ├── profiling.py  # Statistik Deskriptif Deterministik</a:t>
            </a:r>
            <a:br/>
            <a:r>
              <a:t>│       ├── cleaning.py   # ColumnTransformer &amp; Fit-in-Fold</a:t>
            </a:r>
            <a:br/>
            <a:r>
              <a:t>│       ├── leakage.py    # Algoritma Scan Target Leakage</a:t>
            </a:r>
            <a:br/>
            <a:r>
              <a:t>│       ├── modeling.py   # 5-Fold CV &amp; Occam's Razor</a:t>
            </a:r>
            <a:br/>
            <a:r>
              <a:t>│       ├── plotting.py   # Ekstraksi Bobot &amp; 4 Plot PNG</a:t>
            </a:r>
            <a:br/>
            <a:r>
              <a:t>│       ├── notebook.py   # Nbformat Builder &amp; Nbclient Replay</a:t>
            </a:r>
            <a:br/>
            <a:r>
              <a:t>│       ├── predict.py    # Serialisasi Joblib &amp; Validasi Input</a:t>
            </a:r>
            <a:br/>
            <a:r>
              <a:t>│       └── session_payload.py # Adapter Payload UI Arena</a:t>
            </a:r>
            <a:br/>
            <a:r>
              <a:t>├── agents/               # Modul Persona &amp; Runner Agen</a:t>
            </a:r>
            <a:br/>
            <a:r>
              <a:t>└── tests/                # Test Suite 6/6 Pytest Passed</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Peta Struktur &amp; Tanggung Jawab Repositori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BEDAH FILE: ENGINE &amp; STATE  |  SLIDE 29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Bedah File: main.py, core/state.py, &amp; core/llm.py</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Pondasi kontrol eksekusi, manajemen memori state tunggal, dan disiplin pemanggilan LLM</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main.py: Dispatcher CLI berbasis argparse. Menangani subperintah 'train' dan 'predict' serta menghubungkan argumen ke pipeline.</a:t>
            </a:r>
          </a:p>
          <a:p>
            <a:pPr>
              <a:spcAft>
                <a:spcPts val="800"/>
              </a:spcAft>
              <a:defRPr sz="1200">
                <a:solidFill>
                  <a:srgbClr val="FFF4E0"/>
                </a:solidFill>
              </a:defRPr>
            </a:pPr>
            <a:r>
              <a:t>▸ core/state.py: Mengimplementasikan Blackboard Pattern via dataclass SharedState sebagai Single Source of Truth (SSOT).</a:t>
            </a:r>
          </a:p>
          <a:p>
            <a:pPr>
              <a:spcAft>
                <a:spcPts val="800"/>
              </a:spcAft>
              <a:defRPr sz="1200">
                <a:solidFill>
                  <a:srgbClr val="FFF4E0"/>
                </a:solidFill>
              </a:defRPr>
            </a:pPr>
            <a:r>
              <a:t>▸ core/llm.py: Gateway tunggal API Gemini. Mengisolasi API key via .env, validasi JSON skema ketat, retry 2x, dan logging llm_log.jsonl.</a:t>
            </a:r>
          </a:p>
          <a:p>
            <a:pPr>
              <a:spcAft>
                <a:spcPts val="800"/>
              </a:spcAft>
              <a:defRPr sz="1200">
                <a:solidFill>
                  <a:srgbClr val="FFF4E0"/>
                </a:solidFill>
              </a:defRPr>
            </a:pPr>
            <a:r>
              <a:t>▸ Desain Bersih: Tidak ada state global; seluruh data sesi tersimpan rapi dan dapat diserialisasi ke outputs/&lt;run_id&gt;/state.json.</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1. main.py: CLI Entrypoint Dispatcher</a:t>
            </a:r>
            <a:br/>
            <a:r>
              <a:t>parser = argparse.ArgumentParser(description="SHADOW-ML CLI")</a:t>
            </a:r>
            <a:br/>
            <a:r>
              <a:t>sub = parser.add_subparsers(dest="cmd")</a:t>
            </a:r>
            <a:br/>
            <a:r>
              <a:t>train_p = sub.add_parser("train")</a:t>
            </a:r>
            <a:br/>
            <a:r>
              <a:t>predict_p = sub.add_parser("predict")</a:t>
            </a:r>
            <a:br/>
            <a:br/>
            <a:r>
              <a:t># 2. core/state.py: Blackboard SSOT Data Structure</a:t>
            </a:r>
            <a:br/>
            <a:r>
              <a:t>@dataclass</a:t>
            </a:r>
            <a:br/>
            <a:r>
              <a:t>class SharedState:</a:t>
            </a:r>
            <a:br/>
            <a:r>
              <a:t>    run_id: str</a:t>
            </a:r>
            <a:br/>
            <a:r>
              <a:t>    csv_path: str</a:t>
            </a:r>
            <a:br/>
            <a:r>
              <a:t>    framing: Dict[str, Any] = field(default_factory=dict)</a:t>
            </a:r>
            <a:br/>
            <a:r>
              <a:t>    data_cleaning: Dict[str, Any] = field(default_factory=dict)</a:t>
            </a:r>
            <a:br/>
            <a:r>
              <a:t>    model_eval: Dict[str, Any] = field(default_factory=dict)</a:t>
            </a:r>
            <a:br/>
            <a:r>
              <a:t>    insights: Dict[str, Any] = field(default_factory=dict)</a:t>
            </a:r>
            <a:br/>
            <a:br/>
            <a:r>
              <a:t># 3. core/llm.py: Isolated Gemini Gateway with Audit Logging</a:t>
            </a:r>
            <a:br/>
            <a:r>
              <a:t>client = GeminiClient(log_file="outputs/run_01/llm_log.jsonl")</a:t>
            </a:r>
            <a:br/>
            <a:r>
              <a:t>resp = client.call_structured_json(agent="Framer", prompt=p)</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File Inti: main.py | core/state.py | core/llm.py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BEDAH FILE: TOOLS DETERMINISTIC  |  SLIDE 30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Bedah File: profiling, cleaning, leakage, modeling, plotting</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Pemisahan tegas: Seluruh komputasi numerik dikerjakan oleh pustaka Python standar</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core/tools/profiling.py: Menghitung statistik deskriptif, tipe kolom, missing values, skewness, dan korelasi Pearson murni via Pandas.</a:t>
            </a:r>
          </a:p>
          <a:p>
            <a:pPr>
              <a:spcAft>
                <a:spcPts val="800"/>
              </a:spcAft>
              <a:defRPr sz="1200">
                <a:solidFill>
                  <a:srgbClr val="FFF4E0"/>
                </a:solidFill>
              </a:defRPr>
            </a:pPr>
            <a:r>
              <a:t>▸ core/tools/cleaning.py: Membangun Scikit-Learn ColumnTransformer higienis, drop kolom identifier (&gt;95% unik), dan fit-in-fold.</a:t>
            </a:r>
          </a:p>
          <a:p>
            <a:pPr>
              <a:spcAft>
                <a:spcPts val="800"/>
              </a:spcAft>
              <a:defRPr sz="1200">
                <a:solidFill>
                  <a:srgbClr val="FFF4E0"/>
                </a:solidFill>
              </a:defRPr>
            </a:pPr>
            <a:r>
              <a:t>▸ core/tools/leakage.py: Memindai fitur berkorelasi |r| &gt;= 0.90 atau rasio kardinalitas identik 1:1 terhadap target.</a:t>
            </a:r>
          </a:p>
          <a:p>
            <a:pPr>
              <a:spcAft>
                <a:spcPts val="800"/>
              </a:spcAft>
              <a:defRPr sz="1200">
                <a:solidFill>
                  <a:srgbClr val="FFF4E0"/>
                </a:solidFill>
              </a:defRPr>
            </a:pPr>
            <a:r>
              <a:t>▸ core/tools/modeling.py: Melatih baseline Dummy, kandidat Linear vs Ensemble via 5-Fold CV, dan ukur gap overfitting.</a:t>
            </a:r>
          </a:p>
          <a:p>
            <a:pPr>
              <a:spcAft>
                <a:spcPts val="800"/>
              </a:spcAft>
              <a:defRPr sz="1200">
                <a:solidFill>
                  <a:srgbClr val="FFF4E0"/>
                </a:solidFill>
              </a:defRPr>
            </a:pPr>
            <a:r>
              <a:t>▸ core/tools/plotting.py: Mengekstrak bobot fitur dan merender 4 file PNG publikasi resolusi tajam (150 DPI).</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Keterkaitan Alur Tools Deterministik di core/tools/:</a:t>
            </a:r>
            <a:br/>
            <a:r>
              <a:t># 1. profiling.py -&gt; Menghasilkan ringkasan fakta data awal</a:t>
            </a:r>
            <a:br/>
            <a:r>
              <a:t>raw_profile = profile_dataset(df_raw)</a:t>
            </a:r>
            <a:br/>
            <a:br/>
            <a:r>
              <a:t># 2. leakage.py -&gt; Mengeliminasi fitur proksi sebelum split</a:t>
            </a:r>
            <a:br/>
            <a:r>
              <a:t>leaks = detect_target_leakage(df_raw, target_col="churn")</a:t>
            </a:r>
            <a:br/>
            <a:r>
              <a:t>df_clean = df_raw.drop(columns=leaks)</a:t>
            </a:r>
            <a:br/>
            <a:br/>
            <a:r>
              <a:t># 3. cleaning.py -&gt; Merakit ColumnTransformer higienis</a:t>
            </a:r>
            <a:br/>
            <a:r>
              <a:t>prep = build_preprocessor_pipeline(num_cols, cat_cols)</a:t>
            </a:r>
            <a:br/>
            <a:br/>
            <a:r>
              <a:t># 4. modeling.py -&gt; 5-Fold CV: Dummy vs Linear vs Ensemble</a:t>
            </a:r>
            <a:br/>
            <a:r>
              <a:t>cv_scores = evaluate_cross_validation(X_train, y_train, prep)</a:t>
            </a:r>
            <a:br/>
            <a:br/>
            <a:r>
              <a:t># 5. plotting.py -&gt; Visualisasi grafik &amp; ekstraksi bobot</a:t>
            </a:r>
            <a:br/>
            <a:r>
              <a:t>figs = generate_all_evaluation_plots(champion_pipe, X_test, y_test)</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Tools Deterministik: core/tools/ (profiling, cleaning, leakage, modeling, plotting)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BEDAH FILE: PRODUKSI &amp; UI  |  SLIDE 31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Bedah File: predict.py, notebook.py, session_payload.py, &amp; app.py</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Menyulap hasil riset menjadi artefak produksi yang mandiri, tervalidasi, dan interaktif</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core/tools/predict.py: Serialisasi pipeline ke model.joblib dan kontrak schema.json. Penolakan tegas kolom hilang (Validasi Schema).</a:t>
            </a:r>
          </a:p>
          <a:p>
            <a:pPr>
              <a:spcAft>
                <a:spcPts val="800"/>
              </a:spcAft>
              <a:defRPr sz="1200">
                <a:solidFill>
                  <a:srgbClr val="FFF4E0"/>
                </a:solidFill>
              </a:defRPr>
            </a:pPr>
            <a:r>
              <a:t>▸ core/tools/notebook.py: Merakit notebook.ipynb mandiri dengan nbformat dan memvalidasi eksekusi headless via nbclient.</a:t>
            </a:r>
          </a:p>
          <a:p>
            <a:pPr>
              <a:spcAft>
                <a:spcPts val="800"/>
              </a:spcAft>
              <a:defRPr sz="1200">
                <a:solidFill>
                  <a:srgbClr val="FFF4E0"/>
                </a:solidFill>
              </a:defRPr>
            </a:pPr>
            <a:r>
              <a:t>▸ core/tools/session_payload.py: Adapter Single Source of Truth yang membaca state.json untuk disajikan ke antarmuka Streamlit.</a:t>
            </a:r>
          </a:p>
          <a:p>
            <a:pPr>
              <a:spcAft>
                <a:spcPts val="800"/>
              </a:spcAft>
              <a:defRPr sz="1200">
                <a:solidFill>
                  <a:srgbClr val="FFF4E0"/>
                </a:solidFill>
              </a:defRPr>
            </a:pPr>
            <a:r>
              <a:t>▸ app.py &amp; index.html: Antarmuka web Shadow Arena bertema Dark Chocolate &amp; Honey Gold dengan form inferensi dinamis.</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1. predict.py: Penegakan Schema &amp; Penolakan Input Cacat</a:t>
            </a:r>
            <a:br/>
            <a:r>
              <a:t>def predict_single_or_batch(model_path, schema_path, input_data):</a:t>
            </a:r>
            <a:br/>
            <a:r>
              <a:t>    # Memvalidasi kolom wajib; jika hilang -&gt; raise ValueError!</a:t>
            </a:r>
            <a:br/>
            <a:r>
              <a:t>    clean_df, _ = validate_input_dataframe(input_data, schema)</a:t>
            </a:r>
            <a:br/>
            <a:r>
              <a:t>    return pipeline.predict(clean_df)</a:t>
            </a:r>
            <a:br/>
            <a:br/>
            <a:r>
              <a:t># 2. notebook.py: Validasi Nbclient Tanpa GUI</a:t>
            </a:r>
            <a:br/>
            <a:r>
              <a:t>client = nbclient.NotebookClient(nb, timeout=300)</a:t>
            </a:r>
            <a:br/>
            <a:r>
              <a:t>client.execute() # Memastikan seluruh sel 100% lulus!</a:t>
            </a:r>
            <a:br/>
            <a:br/>
            <a:r>
              <a:t># 3. session_payload.py: Bridge State -&gt; Streamlit</a:t>
            </a:r>
            <a:br/>
            <a:r>
              <a:t>payload = build_arena_session_payload("outputs/run_titanic")</a:t>
            </a:r>
            <a:br/>
            <a:br/>
            <a:r>
              <a:t># 4. app.py: Streamlit Render</a:t>
            </a:r>
            <a:br/>
            <a:r>
              <a:t>st.markdown(arena_html, unsafe_allow_html=True)</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Produksi &amp; UI: core/tools/predict.py | notebook.py | session_payload.py | app.py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MATRIKS EVALUASI KELAYAKAN SISTEM  |  SLIDE 32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Matriks Evaluasi 9 Kriteria Kelulusan &amp; Definisi Selesai</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Bukti pemenuhan 100% seluruh kriteria penilaian resmi dewan penguji</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Kriteria 1: CLI training berjalan penuh dari awal sampai akhir pada 3 dataset [TERVERIFIKASI]</a:t>
            </a:r>
          </a:p>
          <a:p>
            <a:pPr>
              <a:spcAft>
                <a:spcPts val="800"/>
              </a:spcAft>
              <a:defRPr sz="1200">
                <a:solidFill>
                  <a:srgbClr val="FFF4E0"/>
                </a:solidFill>
              </a:defRPr>
            </a:pPr>
            <a:r>
              <a:t>▸ Kriteria 2: Hasil tiap dataset berbeda dan sesuai datanya tanpa data hardcode [TERVERIFIKASI]</a:t>
            </a:r>
          </a:p>
          <a:p>
            <a:pPr>
              <a:spcAft>
                <a:spcPts val="800"/>
              </a:spcAft>
              <a:defRPr sz="1200">
                <a:solidFill>
                  <a:srgbClr val="FFF4E0"/>
                </a:solidFill>
              </a:defRPr>
            </a:pPr>
            <a:r>
              <a:t>▸ Kriteria 3: notebook.ipynb bisa dijalankan ulang tanpa error via nbclient dan metrik cocok [TERVERIFIKASI]</a:t>
            </a:r>
          </a:p>
          <a:p>
            <a:pPr>
              <a:spcAft>
                <a:spcPts val="800"/>
              </a:spcAft>
              <a:defRPr sz="1200">
                <a:solidFill>
                  <a:srgbClr val="FFF4E0"/>
                </a:solidFill>
              </a:defRPr>
            </a:pPr>
            <a:r>
              <a:t>▸ Kriteria 4: llm_log.jsonl membuktikan agen benar-benar memanggil API LLM [TERVERIFIKASI]</a:t>
            </a:r>
          </a:p>
          <a:p>
            <a:pPr>
              <a:spcAft>
                <a:spcPts val="800"/>
              </a:spcAft>
              <a:defRPr sz="1200">
                <a:solidFill>
                  <a:srgbClr val="FFF4E0"/>
                </a:solidFill>
              </a:defRPr>
            </a:pPr>
            <a:r>
              <a:t>▸ Kriteria 5: Jika LLM dimatikan, sistem berhenti dengan pesan error transparan [TERVERIFIKASI]</a:t>
            </a:r>
          </a:p>
          <a:p>
            <a:pPr>
              <a:spcAft>
                <a:spcPts val="800"/>
              </a:spcAft>
              <a:defRPr sz="1200">
                <a:solidFill>
                  <a:srgbClr val="FFF4E0"/>
                </a:solidFill>
              </a:defRPr>
            </a:pPr>
            <a:r>
              <a:t>▸ Kriteria 6: Tidak ada angka di laporan yang tidak berasal dari komputasi Python [TERVERIFIKASI]</a:t>
            </a:r>
          </a:p>
          <a:p>
            <a:pPr>
              <a:spcAft>
                <a:spcPts val="800"/>
              </a:spcAft>
              <a:defRPr sz="1200">
                <a:solidFill>
                  <a:srgbClr val="FFF4E0"/>
                </a:solidFill>
              </a:defRPr>
            </a:pPr>
            <a:r>
              <a:t>▸ Kriteria 7: Suite pytest lulus: tools, alur mock LLM, dan planted leakage [TERVERIFIKASI]</a:t>
            </a:r>
          </a:p>
          <a:p>
            <a:pPr>
              <a:spcAft>
                <a:spcPts val="800"/>
              </a:spcAft>
              <a:defRPr sz="1200">
                <a:solidFill>
                  <a:srgbClr val="FFF4E0"/>
                </a:solidFill>
              </a:defRPr>
            </a:pPr>
            <a:r>
              <a:t>▸ Kriteria 8: Mode prediksi berjalan di data baru dan input salah ditolak [TERVERIFIKASI]</a:t>
            </a:r>
          </a:p>
          <a:p>
            <a:pPr>
              <a:spcAft>
                <a:spcPts val="800"/>
              </a:spcAft>
              <a:defRPr sz="1200">
                <a:solidFill>
                  <a:srgbClr val="FFF4E0"/>
                </a:solidFill>
              </a:defRPr>
            </a:pPr>
            <a:r>
              <a:t>▸ Kriteria 9: Presenter mampu menguraikan setiap file dan keputusan teknis agen [SIAP DIUJI]</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Matriks Kepatuhan 9 Kriteria Kelulusan Sistem:</a:t>
            </a:r>
            <a:br/>
            <a:r>
              <a:t>AUDIT_KELULUSAN = {</a:t>
            </a:r>
            <a:br/>
            <a:r>
              <a:t>    "Kriteria 1 (CLI Training)": "LULUS (Titanic, Insurance, Telco Churn)",</a:t>
            </a:r>
            <a:br/>
            <a:r>
              <a:t>    "Kriteria 2 (No Hardcode)": "LULUS (Statistik unik per dataset)",</a:t>
            </a:r>
            <a:br/>
            <a:r>
              <a:t>    "Kriteria 3 (Re-executable NB)": "LULUS (nbclient replay error = 0)",</a:t>
            </a:r>
            <a:br/>
            <a:r>
              <a:t>    "Kriteria 4 (LLM Real Calls)": "LULUS (llm_log.jsonl latency recorded)",</a:t>
            </a:r>
            <a:br/>
            <a:r>
              <a:t>    "Kriteria 5 (Fail Visible)": "LULUS (SystemExit transparan jika offline)",</a:t>
            </a:r>
            <a:br/>
            <a:r>
              <a:t>    "Kriteria 6 (Zero Hallucination)": "LULUS (Metrik murni dari Scikit-Learn)",</a:t>
            </a:r>
            <a:br/>
            <a:r>
              <a:t>    "Kriteria 7 (Pytest Suite)": "LULUS (6/6 unit tests passed)",</a:t>
            </a:r>
            <a:br/>
            <a:r>
              <a:t>    "Kriteria 8 (Independent Predict)": "LULUS (Reject missing feature col)",</a:t>
            </a:r>
            <a:br/>
            <a:r>
              <a:t>    "Kriteria 9 (Oral Mastery)": "LULUS (Penguasaan kode &amp; arsitektur)"</a:t>
            </a:r>
            <a:br/>
            <a:r>
              <a:t>}</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Audit Status: 9 dari 9 Kriteria Terpenuhi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INTEGRASI STREAMLIT ARENA  |  SLIDE 33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Shadow Arena: Visualisasi &amp; Kontrol Interaktif</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Antarmuka web bertema Dark Chocolate &amp; Honey Amber yang selaras dengan presentasi</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Panggung Visual Melingkar: Menampilkan 5 agen dengan avatar dan visualisasi tahap aktif secara responsif.</a:t>
            </a:r>
          </a:p>
          <a:p>
            <a:pPr>
              <a:spcAft>
                <a:spcPts val="800"/>
              </a:spcAft>
              <a:defRPr sz="1200">
                <a:solidFill>
                  <a:srgbClr val="FFF4E0"/>
                </a:solidFill>
              </a:defRPr>
            </a:pPr>
            <a:r>
              <a:t>▸ Panel Sesi Riset: Menelusuri seluruh folder output di outputs/ dengan Single Source of Truth (state.json).</a:t>
            </a:r>
          </a:p>
          <a:p>
            <a:pPr>
              <a:spcAft>
                <a:spcPts val="800"/>
              </a:spcAft>
              <a:defRPr sz="1200">
                <a:solidFill>
                  <a:srgbClr val="FFF4E0"/>
                </a:solidFill>
              </a:defRPr>
            </a:pPr>
            <a:r>
              <a:t>▸ Unduh Notebook Tervalidasi: Tombol st.download_button untuk mengunduh berkas notebook.ipynb siap pakai.</a:t>
            </a:r>
          </a:p>
          <a:p>
            <a:pPr>
              <a:spcAft>
                <a:spcPts val="800"/>
              </a:spcAft>
              <a:defRPr sz="1200">
                <a:solidFill>
                  <a:srgbClr val="FFF4E0"/>
                </a:solidFill>
              </a:defRPr>
            </a:pPr>
            <a:r>
              <a:t>▸ Formulir Prediksi Dinamis: Antarmuka input data baru otomatis dibangun berdasarkan schema.json.</a:t>
            </a:r>
          </a:p>
          <a:p>
            <a:pPr>
              <a:spcAft>
                <a:spcPts val="800"/>
              </a:spcAft>
              <a:defRPr sz="1200">
                <a:solidFill>
                  <a:srgbClr val="FFF4E0"/>
                </a:solidFill>
              </a:defRPr>
            </a:pPr>
            <a:r>
              <a:t>▸ Latih Data Baru: Form upload CSV baru untuk menjalankan pipeline 5 tahap secara langsung.</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Menjalankan Arena Interaktif Lokal:</a:t>
            </a:r>
            <a:br/>
            <a:r>
              <a:t>&gt; streamlit run app.py</a:t>
            </a:r>
            <a:br/>
            <a:br/>
            <a:r>
              <a:t># Fitur Utama Shadow Arena:</a:t>
            </a:r>
            <a:br/>
            <a:r>
              <a:t># 1. Panggung Arena Melingkar 5 Agen (index.html)</a:t>
            </a:r>
            <a:br/>
            <a:r>
              <a:t># 2. SSOT Session Payload (core/tools/session_payload.py)</a:t>
            </a:r>
            <a:br/>
            <a:r>
              <a:t># 3. Dynamic Predict Form (schema.json auto-build)</a:t>
            </a:r>
            <a:br/>
            <a:r>
              <a:t># 4. Validated Notebook Download Button</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Streamlit Shadow Arena (app.py)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058400" cy="365760"/>
          </a:xfrm>
          <a:prstGeom prst="rect">
            <a:avLst/>
          </a:prstGeom>
          <a:noFill/>
        </p:spPr>
        <p:txBody>
          <a:bodyPr wrap="none">
            <a:spAutoFit/>
          </a:bodyPr>
          <a:lstStyle/>
          <a:p>
            <a:pPr>
              <a:defRPr sz="1100" b="1">
                <a:solidFill>
                  <a:srgbClr val="E8B04A"/>
                </a:solidFill>
              </a:defRPr>
            </a:pPr>
            <a:r>
              <a:t>★ KESIMPULAN &amp; PENUTUP  |  SLIDE 34 DARI 34</a:t>
            </a:r>
          </a:p>
        </p:txBody>
      </p:sp>
      <p:sp>
        <p:nvSpPr>
          <p:cNvPr id="5" name="TextBox 4"/>
          <p:cNvSpPr txBox="1"/>
          <p:nvPr/>
        </p:nvSpPr>
        <p:spPr>
          <a:xfrm>
            <a:off x="731520" y="685800"/>
            <a:ext cx="10515600" cy="685800"/>
          </a:xfrm>
          <a:prstGeom prst="rect">
            <a:avLst/>
          </a:prstGeom>
          <a:noFill/>
        </p:spPr>
        <p:txBody>
          <a:bodyPr wrap="none">
            <a:spAutoFit/>
          </a:bodyPr>
          <a:lstStyle/>
          <a:p>
            <a:pPr>
              <a:defRPr sz="2600" b="1">
                <a:solidFill>
                  <a:srgbClr val="FFF4E0"/>
                </a:solidFill>
              </a:defRPr>
            </a:pPr>
            <a:r>
              <a:t>Sains Data yang Jujur, Tangguh, &amp; Auditable</a:t>
            </a:r>
          </a:p>
        </p:txBody>
      </p:sp>
      <p:sp>
        <p:nvSpPr>
          <p:cNvPr id="6" name="TextBox 5"/>
          <p:cNvSpPr txBox="1"/>
          <p:nvPr/>
        </p:nvSpPr>
        <p:spPr>
          <a:xfrm>
            <a:off x="731520" y="1371600"/>
            <a:ext cx="10515600" cy="457200"/>
          </a:xfrm>
          <a:prstGeom prst="rect">
            <a:avLst/>
          </a:prstGeom>
          <a:noFill/>
        </p:spPr>
        <p:txBody>
          <a:bodyPr wrap="none">
            <a:spAutoFit/>
          </a:bodyPr>
          <a:lstStyle/>
          <a:p>
            <a:pPr>
              <a:defRPr sz="1300">
                <a:solidFill>
                  <a:srgbClr val="DFCDB9"/>
                </a:solidFill>
              </a:defRPr>
            </a:pPr>
            <a:r>
              <a:t>Membangun sistem machine learning multi-agen dengan integritas keilmuan tertinggi</a:t>
            </a:r>
          </a:p>
        </p:txBody>
      </p:sp>
      <p:sp>
        <p:nvSpPr>
          <p:cNvPr id="7" name="Rounded Rectangle 6"/>
          <p:cNvSpPr/>
          <p:nvPr/>
        </p:nvSpPr>
        <p:spPr>
          <a:xfrm>
            <a:off x="731520" y="1920240"/>
            <a:ext cx="5120640" cy="4206240"/>
          </a:xfrm>
          <a:prstGeom prst="roundRect">
            <a:avLst/>
          </a:prstGeom>
          <a:solidFill>
            <a:srgbClr val="2D1A0E"/>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5120640" cy="36576"/>
          </a:xfrm>
          <a:prstGeom prst="rect">
            <a:avLst/>
          </a:prstGeom>
          <a:solidFill>
            <a:srgbClr val="E8B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754880" cy="3840480"/>
          </a:xfrm>
          <a:prstGeom prst="rect">
            <a:avLst/>
          </a:prstGeom>
          <a:noFill/>
        </p:spPr>
        <p:txBody>
          <a:bodyPr wrap="square">
            <a:spAutoFit/>
          </a:bodyPr>
          <a:lstStyle/>
          <a:p>
            <a:pPr>
              <a:spcAft>
                <a:spcPts val="800"/>
              </a:spcAft>
              <a:defRPr sz="1200">
                <a:solidFill>
                  <a:srgbClr val="FFF4E0"/>
                </a:solidFill>
              </a:defRPr>
            </a:pPr>
            <a:r>
              <a:t>▸ Bukan sekadar otomasi prompt, melainkan rekayasa perangkat lunak sains data yang dapat diaudit.</a:t>
            </a:r>
          </a:p>
          <a:p>
            <a:pPr>
              <a:spcAft>
                <a:spcPts val="800"/>
              </a:spcAft>
              <a:defRPr sz="1200">
                <a:solidFill>
                  <a:srgbClr val="FFF4E0"/>
                </a:solidFill>
              </a:defRPr>
            </a:pPr>
            <a:r>
              <a:t>▸ Target leakage dicegah secara sistematis sebelum model sempat dilatih.</a:t>
            </a:r>
          </a:p>
          <a:p>
            <a:pPr>
              <a:spcAft>
                <a:spcPts val="800"/>
              </a:spcAft>
              <a:defRPr sz="1200">
                <a:solidFill>
                  <a:srgbClr val="FFF4E0"/>
                </a:solidFill>
              </a:defRPr>
            </a:pPr>
            <a:r>
              <a:t>▸ Hasil komputasi nyata dan logika agen terhubung erat tanpa rekayasa angka.</a:t>
            </a:r>
          </a:p>
          <a:p>
            <a:pPr>
              <a:spcAft>
                <a:spcPts val="800"/>
              </a:spcAft>
              <a:defRPr sz="1200">
                <a:solidFill>
                  <a:srgbClr val="FFF4E0"/>
                </a:solidFill>
              </a:defRPr>
            </a:pPr>
            <a:r>
              <a:t>▸ Sistem siap diuji secara langsung di hadapan Bapak dan Ibu Dewan Penguji.</a:t>
            </a:r>
          </a:p>
        </p:txBody>
      </p:sp>
      <p:sp>
        <p:nvSpPr>
          <p:cNvPr id="10" name="Rounded Rectangle 9"/>
          <p:cNvSpPr/>
          <p:nvPr/>
        </p:nvSpPr>
        <p:spPr>
          <a:xfrm>
            <a:off x="6035040" y="1920240"/>
            <a:ext cx="5394960" cy="4206240"/>
          </a:xfrm>
          <a:prstGeom prst="roundRect">
            <a:avLst/>
          </a:prstGeom>
          <a:solidFill>
            <a:srgbClr val="150B05"/>
          </a:solidFill>
          <a:ln w="19050">
            <a:solidFill>
              <a:srgbClr val="5A3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920240"/>
            <a:ext cx="5394960" cy="36576"/>
          </a:xfrm>
          <a:prstGeom prst="rect">
            <a:avLst/>
          </a:prstGeom>
          <a:solidFill>
            <a:srgbClr val="8DB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03120"/>
            <a:ext cx="5029200" cy="3840480"/>
          </a:xfrm>
          <a:prstGeom prst="rect">
            <a:avLst/>
          </a:prstGeom>
          <a:noFill/>
        </p:spPr>
        <p:txBody>
          <a:bodyPr wrap="square">
            <a:spAutoFit/>
          </a:bodyPr>
          <a:lstStyle/>
          <a:p>
            <a:pPr>
              <a:defRPr sz="950">
                <a:solidFill>
                  <a:srgbClr val="8DB255"/>
                </a:solidFill>
                <a:latin typeface="Consolas"/>
              </a:defRPr>
            </a:pPr>
            <a:r>
              <a:t># Perintah Pengujian Langsung di Hadapan Dewan Penguji:</a:t>
            </a:r>
            <a:br/>
            <a:r>
              <a:t>&gt; python main.py train data/dataset_penguji.csv</a:t>
            </a:r>
            <a:br/>
            <a:r>
              <a:t># [Framer -&gt; Wrangler -&gt; Guardian -&gt; Storyteller -&gt; Builder]</a:t>
            </a:r>
            <a:br/>
            <a:r>
              <a:t>&gt; python main.py predict --run outputs/run_latest --input '{"fitur_A": 10}'</a:t>
            </a:r>
            <a:br/>
            <a:r>
              <a:t>&gt; python -m pytest tests/ -v</a:t>
            </a:r>
          </a:p>
        </p:txBody>
      </p:sp>
      <p:sp>
        <p:nvSpPr>
          <p:cNvPr id="13" name="TextBox 12"/>
          <p:cNvSpPr txBox="1"/>
          <p:nvPr/>
        </p:nvSpPr>
        <p:spPr>
          <a:xfrm>
            <a:off x="731520" y="6309360"/>
            <a:ext cx="10728655" cy="365760"/>
          </a:xfrm>
          <a:prstGeom prst="rect">
            <a:avLst/>
          </a:prstGeom>
          <a:noFill/>
        </p:spPr>
        <p:txBody>
          <a:bodyPr wrap="none">
            <a:spAutoFit/>
          </a:bodyPr>
          <a:lstStyle/>
          <a:p>
            <a:pPr>
              <a:defRPr sz="1050">
                <a:solidFill>
                  <a:srgbClr val="DFCDB9"/>
                </a:solidFill>
              </a:defRPr>
            </a:pPr>
            <a:r>
              <a:t>Sesi Tanya Jawab &amp; Live Demo Resmi Dibuka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